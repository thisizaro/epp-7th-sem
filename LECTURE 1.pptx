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67" r:id="rId2"/>
    <p:sldId id="268" r:id="rId3"/>
    <p:sldId id="269" r:id="rId4"/>
    <p:sldId id="257" r:id="rId5"/>
    <p:sldId id="282" r:id="rId6"/>
    <p:sldId id="289" r:id="rId7"/>
    <p:sldId id="283" r:id="rId8"/>
    <p:sldId id="288" r:id="rId9"/>
    <p:sldId id="284" r:id="rId10"/>
    <p:sldId id="285" r:id="rId11"/>
    <p:sldId id="286" r:id="rId12"/>
    <p:sldId id="287" r:id="rId13"/>
    <p:sldId id="258" r:id="rId14"/>
    <p:sldId id="259" r:id="rId15"/>
    <p:sldId id="270" r:id="rId16"/>
    <p:sldId id="271" r:id="rId17"/>
    <p:sldId id="272" r:id="rId18"/>
    <p:sldId id="273" r:id="rId19"/>
    <p:sldId id="260" r:id="rId20"/>
    <p:sldId id="261" r:id="rId21"/>
    <p:sldId id="274" r:id="rId22"/>
    <p:sldId id="275" r:id="rId23"/>
    <p:sldId id="276" r:id="rId24"/>
    <p:sldId id="277" r:id="rId25"/>
    <p:sldId id="278" r:id="rId26"/>
    <p:sldId id="279" r:id="rId27"/>
    <p:sldId id="280" r:id="rId28"/>
    <p:sldId id="265" r:id="rId29"/>
    <p:sldId id="290"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A620AF-C213-45E5-9209-BF1360E61AC7}" v="1" dt="2025-09-13T08:37:27.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106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uthwiraj Sahu" userId="8ad9f87b72fa17b9" providerId="LiveId" clId="{7FD04414-D448-4163-B596-63322AB9BBCE}"/>
    <pc:docChg chg="undo custSel addSld delSld modSld">
      <pc:chgData name="Pruthwiraj Sahu" userId="8ad9f87b72fa17b9" providerId="LiveId" clId="{7FD04414-D448-4163-B596-63322AB9BBCE}" dt="2025-07-24T05:20:37.491" v="149" actId="1076"/>
      <pc:docMkLst>
        <pc:docMk/>
      </pc:docMkLst>
      <pc:sldChg chg="addSp delSp modSp mod setBg">
        <pc:chgData name="Pruthwiraj Sahu" userId="8ad9f87b72fa17b9" providerId="LiveId" clId="{7FD04414-D448-4163-B596-63322AB9BBCE}" dt="2025-07-11T06:04:06.296" v="118" actId="113"/>
        <pc:sldMkLst>
          <pc:docMk/>
          <pc:sldMk cId="0" sldId="257"/>
        </pc:sldMkLst>
      </pc:sldChg>
      <pc:sldChg chg="addSp modSp mod setBg">
        <pc:chgData name="Pruthwiraj Sahu" userId="8ad9f87b72fa17b9" providerId="LiveId" clId="{7FD04414-D448-4163-B596-63322AB9BBCE}" dt="2025-07-24T05:20:37.491" v="149" actId="1076"/>
        <pc:sldMkLst>
          <pc:docMk/>
          <pc:sldMk cId="0" sldId="258"/>
        </pc:sldMkLst>
      </pc:sldChg>
      <pc:sldChg chg="modSp mod">
        <pc:chgData name="Pruthwiraj Sahu" userId="8ad9f87b72fa17b9" providerId="LiveId" clId="{7FD04414-D448-4163-B596-63322AB9BBCE}" dt="2025-07-11T06:03:30.997" v="116" actId="20577"/>
        <pc:sldMkLst>
          <pc:docMk/>
          <pc:sldMk cId="2509366591" sldId="269"/>
        </pc:sldMkLst>
      </pc:sldChg>
      <pc:sldChg chg="addSp modSp new del">
        <pc:chgData name="Pruthwiraj Sahu" userId="8ad9f87b72fa17b9" providerId="LiveId" clId="{7FD04414-D448-4163-B596-63322AB9BBCE}" dt="2025-07-18T05:20:14.835" v="143" actId="47"/>
        <pc:sldMkLst>
          <pc:docMk/>
          <pc:sldMk cId="934919618" sldId="281"/>
        </pc:sldMkLst>
      </pc:sldChg>
      <pc:sldChg chg="addSp delSp modSp add mod">
        <pc:chgData name="Pruthwiraj Sahu" userId="8ad9f87b72fa17b9" providerId="LiveId" clId="{7FD04414-D448-4163-B596-63322AB9BBCE}" dt="2025-07-18T05:18:37.004" v="128" actId="20577"/>
        <pc:sldMkLst>
          <pc:docMk/>
          <pc:sldMk cId="2607849256" sldId="282"/>
        </pc:sldMkLst>
      </pc:sldChg>
      <pc:sldChg chg="addSp delSp modSp add">
        <pc:chgData name="Pruthwiraj Sahu" userId="8ad9f87b72fa17b9" providerId="LiveId" clId="{7FD04414-D448-4163-B596-63322AB9BBCE}" dt="2025-07-18T05:18:54.067" v="131" actId="1076"/>
        <pc:sldMkLst>
          <pc:docMk/>
          <pc:sldMk cId="3742738622" sldId="283"/>
        </pc:sldMkLst>
      </pc:sldChg>
      <pc:sldChg chg="addSp delSp modSp add mod">
        <pc:chgData name="Pruthwiraj Sahu" userId="8ad9f87b72fa17b9" providerId="LiveId" clId="{7FD04414-D448-4163-B596-63322AB9BBCE}" dt="2025-07-18T05:19:07.579" v="138" actId="1037"/>
        <pc:sldMkLst>
          <pc:docMk/>
          <pc:sldMk cId="3029329612" sldId="284"/>
        </pc:sldMkLst>
      </pc:sldChg>
      <pc:sldChg chg="addSp delSp add">
        <pc:chgData name="Pruthwiraj Sahu" userId="8ad9f87b72fa17b9" providerId="LiveId" clId="{7FD04414-D448-4163-B596-63322AB9BBCE}" dt="2025-07-11T04:42:37.964" v="57"/>
        <pc:sldMkLst>
          <pc:docMk/>
          <pc:sldMk cId="2259756387" sldId="285"/>
        </pc:sldMkLst>
      </pc:sldChg>
      <pc:sldChg chg="addSp delSp add">
        <pc:chgData name="Pruthwiraj Sahu" userId="8ad9f87b72fa17b9" providerId="LiveId" clId="{7FD04414-D448-4163-B596-63322AB9BBCE}" dt="2025-07-11T05:44:28.533" v="58"/>
        <pc:sldMkLst>
          <pc:docMk/>
          <pc:sldMk cId="1339989593" sldId="286"/>
        </pc:sldMkLst>
      </pc:sldChg>
      <pc:sldChg chg="addSp delSp modSp new mod setBg">
        <pc:chgData name="Pruthwiraj Sahu" userId="8ad9f87b72fa17b9" providerId="LiveId" clId="{7FD04414-D448-4163-B596-63322AB9BBCE}" dt="2025-07-11T05:54:06.025" v="96" actId="1076"/>
        <pc:sldMkLst>
          <pc:docMk/>
          <pc:sldMk cId="3078682696" sldId="287"/>
        </pc:sldMkLst>
      </pc:sldChg>
      <pc:sldChg chg="delSp modSp add">
        <pc:chgData name="Pruthwiraj Sahu" userId="8ad9f87b72fa17b9" providerId="LiveId" clId="{7FD04414-D448-4163-B596-63322AB9BBCE}" dt="2025-07-18T05:19:01.017" v="133" actId="1076"/>
        <pc:sldMkLst>
          <pc:docMk/>
          <pc:sldMk cId="1180396162" sldId="288"/>
        </pc:sldMkLst>
      </pc:sldChg>
      <pc:sldChg chg="addSp delSp modSp add mod">
        <pc:chgData name="Pruthwiraj Sahu" userId="8ad9f87b72fa17b9" providerId="LiveId" clId="{7FD04414-D448-4163-B596-63322AB9BBCE}" dt="2025-07-18T05:20:12.118" v="142"/>
        <pc:sldMkLst>
          <pc:docMk/>
          <pc:sldMk cId="3339981002" sldId="289"/>
        </pc:sldMkLst>
      </pc:sldChg>
    </pc:docChg>
  </pc:docChgLst>
  <pc:docChgLst>
    <pc:chgData name="Pruthwiraj Sahu" userId="8ad9f87b72fa17b9" providerId="LiveId" clId="{1E211BF1-E0B5-4B03-B11B-5FE1A808CE8D}"/>
    <pc:docChg chg="custSel addSld modSld">
      <pc:chgData name="Pruthwiraj Sahu" userId="8ad9f87b72fa17b9" providerId="LiveId" clId="{1E211BF1-E0B5-4B03-B11B-5FE1A808CE8D}" dt="2025-09-13T08:39:56.351" v="2" actId="2084"/>
      <pc:docMkLst>
        <pc:docMk/>
      </pc:docMkLst>
      <pc:sldChg chg="modSp mod">
        <pc:chgData name="Pruthwiraj Sahu" userId="8ad9f87b72fa17b9" providerId="LiveId" clId="{1E211BF1-E0B5-4B03-B11B-5FE1A808CE8D}" dt="2025-09-13T08:39:56.351" v="2" actId="2084"/>
        <pc:sldMkLst>
          <pc:docMk/>
          <pc:sldMk cId="1888536566" sldId="280"/>
        </pc:sldMkLst>
        <pc:graphicFrameChg chg="modGraphic">
          <ac:chgData name="Pruthwiraj Sahu" userId="8ad9f87b72fa17b9" providerId="LiveId" clId="{1E211BF1-E0B5-4B03-B11B-5FE1A808CE8D}" dt="2025-09-13T08:39:56.351" v="2" actId="2084"/>
          <ac:graphicFrameMkLst>
            <pc:docMk/>
            <pc:sldMk cId="1888536566" sldId="280"/>
            <ac:graphicFrameMk id="4" creationId="{00000000-0000-0000-0000-000000000000}"/>
          </ac:graphicFrameMkLst>
        </pc:graphicFrameChg>
      </pc:sldChg>
      <pc:sldChg chg="add">
        <pc:chgData name="Pruthwiraj Sahu" userId="8ad9f87b72fa17b9" providerId="LiveId" clId="{1E211BF1-E0B5-4B03-B11B-5FE1A808CE8D}" dt="2025-09-13T08:37:27.100" v="0"/>
        <pc:sldMkLst>
          <pc:docMk/>
          <pc:sldMk cId="4136287476"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9682F4-9EA2-4F18-AA6A-4A111EA7483A}" type="datetimeFigureOut">
              <a:rPr lang="en-IN" smtClean="0"/>
              <a:t>13-09-2025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E228D-FAAC-4371-9550-C7D9F9E83B19}" type="slidenum">
              <a:rPr lang="en-IN" smtClean="0"/>
              <a:t>‹#›</a:t>
            </a:fld>
            <a:endParaRPr lang="en-IN"/>
          </a:p>
        </p:txBody>
      </p:sp>
    </p:spTree>
    <p:extLst>
      <p:ext uri="{BB962C8B-B14F-4D97-AF65-F5344CB8AC3E}">
        <p14:creationId xmlns:p14="http://schemas.microsoft.com/office/powerpoint/2010/main" val="1783932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3DE228D-FAAC-4371-9550-C7D9F9E83B19}" type="slidenum">
              <a:rPr lang="en-IN" smtClean="0"/>
              <a:t>13</a:t>
            </a:fld>
            <a:endParaRPr lang="en-IN"/>
          </a:p>
        </p:txBody>
      </p:sp>
    </p:spTree>
    <p:extLst>
      <p:ext uri="{BB962C8B-B14F-4D97-AF65-F5344CB8AC3E}">
        <p14:creationId xmlns:p14="http://schemas.microsoft.com/office/powerpoint/2010/main" val="2902845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skyfilabs.com/blog/8-most-important-skills-required-for-an-engineer" TargetMode="Externa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 y="1620838"/>
            <a:ext cx="8026400" cy="554038"/>
          </a:xfrm>
        </p:spPr>
        <p:txBody>
          <a:bodyPr>
            <a:normAutofit fontScale="90000"/>
          </a:bodyPr>
          <a:lstStyle/>
          <a:p>
            <a:r>
              <a:rPr lang="en-US" b="1" dirty="0"/>
              <a:t>MODULE I</a:t>
            </a:r>
            <a:endParaRPr lang="en-IN" b="1" dirty="0"/>
          </a:p>
        </p:txBody>
      </p:sp>
      <p:sp>
        <p:nvSpPr>
          <p:cNvPr id="3" name="Content Placeholder 2"/>
          <p:cNvSpPr>
            <a:spLocks noGrp="1"/>
          </p:cNvSpPr>
          <p:nvPr>
            <p:ph idx="1"/>
          </p:nvPr>
        </p:nvSpPr>
        <p:spPr>
          <a:xfrm>
            <a:off x="1016000" y="2971801"/>
            <a:ext cx="7945120" cy="1214120"/>
          </a:xfrm>
        </p:spPr>
        <p:txBody>
          <a:bodyPr>
            <a:normAutofit/>
          </a:bodyPr>
          <a:lstStyle/>
          <a:p>
            <a:pPr marL="0" indent="0" algn="ctr">
              <a:buNone/>
            </a:pPr>
            <a:r>
              <a:rPr lang="en-US" sz="5400" b="1" dirty="0">
                <a:solidFill>
                  <a:srgbClr val="FF0000"/>
                </a:solidFill>
              </a:rPr>
              <a:t>Engineering and Engineer</a:t>
            </a:r>
            <a:endParaRPr lang="en-IN" sz="5400" dirty="0">
              <a:solidFill>
                <a:srgbClr val="FF0000"/>
              </a:solidFill>
            </a:endParaRPr>
          </a:p>
        </p:txBody>
      </p:sp>
    </p:spTree>
    <p:extLst>
      <p:ext uri="{BB962C8B-B14F-4D97-AF65-F5344CB8AC3E}">
        <p14:creationId xmlns:p14="http://schemas.microsoft.com/office/powerpoint/2010/main" val="3746368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latin typeface="Times New Roman" panose="02020603050405020304" pitchFamily="18" charset="0"/>
                <a:cs typeface="Times New Roman" panose="02020603050405020304" pitchFamily="18" charset="0"/>
              </a:rPr>
              <a:t>Content</a:t>
            </a:r>
            <a:endParaRPr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518920"/>
            <a:ext cx="8229600" cy="4525963"/>
          </a:xfrm>
        </p:spPr>
        <p:txBody>
          <a:bodyPr/>
          <a:lstStyle/>
          <a:p>
            <a:r>
              <a:rPr lang="en-US" dirty="0">
                <a:latin typeface="Times New Roman" panose="02020603050405020304" pitchFamily="18" charset="0"/>
                <a:cs typeface="Times New Roman" panose="02020603050405020304" pitchFamily="18" charset="0"/>
              </a:rPr>
              <a:t>Engineering as a discipline and a profession</a:t>
            </a:r>
          </a:p>
          <a:p>
            <a:r>
              <a:rPr lang="en-US" dirty="0">
                <a:latin typeface="Times New Roman" panose="02020603050405020304" pitchFamily="18" charset="0"/>
                <a:cs typeface="Times New Roman" panose="02020603050405020304" pitchFamily="18" charset="0"/>
              </a:rPr>
              <a:t>Attributes and functions of a practicing engineer</a:t>
            </a:r>
          </a:p>
          <a:p>
            <a:r>
              <a:rPr lang="en-US" dirty="0">
                <a:latin typeface="Times New Roman" panose="02020603050405020304" pitchFamily="18" charset="0"/>
                <a:cs typeface="Times New Roman" panose="02020603050405020304" pitchFamily="18" charset="0"/>
              </a:rPr>
              <a:t>Engineer as a problem solver</a:t>
            </a:r>
          </a:p>
          <a:p>
            <a:r>
              <a:rPr lang="en-US" dirty="0">
                <a:latin typeface="Times New Roman" panose="02020603050405020304" pitchFamily="18" charset="0"/>
                <a:cs typeface="Times New Roman" panose="02020603050405020304" pitchFamily="18" charset="0"/>
              </a:rPr>
              <a:t>Engineer as a designer</a:t>
            </a:r>
          </a:p>
          <a:p>
            <a:r>
              <a:rPr lang="en-US" dirty="0">
                <a:latin typeface="Times New Roman" panose="02020603050405020304" pitchFamily="18" charset="0"/>
                <a:cs typeface="Times New Roman" panose="02020603050405020304" pitchFamily="18" charset="0"/>
              </a:rPr>
              <a:t>Engineer as a change agent</a:t>
            </a:r>
          </a:p>
        </p:txBody>
      </p:sp>
    </p:spTree>
    <p:extLst>
      <p:ext uri="{BB962C8B-B14F-4D97-AF65-F5344CB8AC3E}">
        <p14:creationId xmlns:p14="http://schemas.microsoft.com/office/powerpoint/2010/main" val="3460995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5040" y="1981201"/>
            <a:ext cx="7355840" cy="1615439"/>
          </a:xfrm>
        </p:spPr>
        <p:txBody>
          <a:bodyPr>
            <a:noAutofit/>
          </a:bodyPr>
          <a:lstStyle/>
          <a:p>
            <a:pPr marL="0" indent="0" algn="ctr">
              <a:buNone/>
            </a:pPr>
            <a:r>
              <a:rPr lang="en-US" sz="4800" dirty="0">
                <a:solidFill>
                  <a:srgbClr val="FF0000"/>
                </a:solidFill>
                <a:latin typeface="Times New Roman" panose="02020603050405020304" pitchFamily="18" charset="0"/>
                <a:cs typeface="Times New Roman" panose="02020603050405020304" pitchFamily="18" charset="0"/>
              </a:rPr>
              <a:t>Engineering as a Discipline and a Profession</a:t>
            </a:r>
          </a:p>
          <a:p>
            <a:pPr algn="ctr"/>
            <a:endParaRPr lang="en-IN" sz="4800" dirty="0">
              <a:solidFill>
                <a:srgbClr val="FF0000"/>
              </a:solidFill>
            </a:endParaRPr>
          </a:p>
        </p:txBody>
      </p:sp>
    </p:spTree>
    <p:extLst>
      <p:ext uri="{BB962C8B-B14F-4D97-AF65-F5344CB8AC3E}">
        <p14:creationId xmlns:p14="http://schemas.microsoft.com/office/powerpoint/2010/main" val="2509366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dirty="0">
                <a:solidFill>
                  <a:srgbClr val="FFFFFF"/>
                </a:solidFill>
                <a:latin typeface="Times New Roman" panose="02020603050405020304" pitchFamily="18" charset="0"/>
                <a:cs typeface="Times New Roman" panose="02020603050405020304" pitchFamily="18" charset="0"/>
              </a:rPr>
              <a:t>Introduction</a:t>
            </a:r>
          </a:p>
        </p:txBody>
      </p:sp>
      <p:sp>
        <p:nvSpPr>
          <p:cNvPr id="27" name="Content Placeholder 2"/>
          <p:cNvSpPr>
            <a:spLocks noGrp="1"/>
          </p:cNvSpPr>
          <p:nvPr>
            <p:ph idx="1"/>
          </p:nvPr>
        </p:nvSpPr>
        <p:spPr>
          <a:xfrm>
            <a:off x="217816" y="1783360"/>
            <a:ext cx="8799485" cy="4902112"/>
          </a:xfrm>
        </p:spPr>
        <p:txBody>
          <a:bodyPr anchor="ctr">
            <a:normAutofit/>
          </a:bodyPr>
          <a:lstStyle/>
          <a:p>
            <a:r>
              <a:rPr sz="2400" b="1" dirty="0">
                <a:solidFill>
                  <a:srgbClr val="FF0000"/>
                </a:solidFill>
                <a:latin typeface="Times New Roman" panose="02020603050405020304" pitchFamily="18" charset="0"/>
                <a:cs typeface="Times New Roman" panose="02020603050405020304" pitchFamily="18" charset="0"/>
              </a:rPr>
              <a:t>Definition of Engineering</a:t>
            </a:r>
            <a:endParaRPr lang="en-US" sz="24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Engineering is a professional discipline that combines knowledge from </a:t>
            </a:r>
            <a:r>
              <a:rPr lang="en-US" sz="2400" b="1" dirty="0">
                <a:solidFill>
                  <a:srgbClr val="00B050"/>
                </a:solidFill>
                <a:latin typeface="Times New Roman" panose="02020603050405020304" pitchFamily="18" charset="0"/>
                <a:cs typeface="Times New Roman" panose="02020603050405020304" pitchFamily="18" charset="0"/>
              </a:rPr>
              <a:t>physics, mathematics, and material science </a:t>
            </a:r>
            <a:r>
              <a:rPr lang="en-US" sz="2400" dirty="0">
                <a:latin typeface="Times New Roman" panose="02020603050405020304" pitchFamily="18" charset="0"/>
                <a:cs typeface="Times New Roman" panose="02020603050405020304" pitchFamily="18" charset="0"/>
              </a:rPr>
              <a:t>with </a:t>
            </a:r>
            <a:r>
              <a:rPr lang="en-US" sz="2400" b="1" dirty="0">
                <a:solidFill>
                  <a:srgbClr val="0070C0"/>
                </a:solidFill>
                <a:latin typeface="Times New Roman" panose="02020603050405020304" pitchFamily="18" charset="0"/>
                <a:cs typeface="Times New Roman" panose="02020603050405020304" pitchFamily="18" charset="0"/>
              </a:rPr>
              <a:t>innovation, analysis, and design</a:t>
            </a:r>
            <a:r>
              <a:rPr lang="en-US" sz="2400" dirty="0">
                <a:latin typeface="Times New Roman" panose="02020603050405020304" pitchFamily="18" charset="0"/>
                <a:cs typeface="Times New Roman" panose="02020603050405020304" pitchFamily="18" charset="0"/>
              </a:rPr>
              <a:t> to develop </a:t>
            </a:r>
            <a:r>
              <a:rPr lang="en-US" sz="2400" b="1" dirty="0">
                <a:solidFill>
                  <a:schemeClr val="accent6">
                    <a:lumMod val="75000"/>
                  </a:schemeClr>
                </a:solidFill>
                <a:latin typeface="Times New Roman" panose="02020603050405020304" pitchFamily="18" charset="0"/>
                <a:cs typeface="Times New Roman" panose="02020603050405020304" pitchFamily="18" charset="0"/>
              </a:rPr>
              <a:t>technologies and solutions </a:t>
            </a:r>
            <a:r>
              <a:rPr lang="en-US" sz="2400" dirty="0">
                <a:latin typeface="Times New Roman" panose="02020603050405020304" pitchFamily="18" charset="0"/>
                <a:cs typeface="Times New Roman" panose="02020603050405020304" pitchFamily="18" charset="0"/>
              </a:rPr>
              <a:t>that meet </a:t>
            </a:r>
            <a:r>
              <a:rPr lang="en-US" sz="2400" b="1" dirty="0">
                <a:solidFill>
                  <a:schemeClr val="accent6">
                    <a:lumMod val="75000"/>
                  </a:schemeClr>
                </a:solidFill>
                <a:latin typeface="Times New Roman" panose="02020603050405020304" pitchFamily="18" charset="0"/>
                <a:cs typeface="Times New Roman" panose="02020603050405020304" pitchFamily="18" charset="0"/>
              </a:rPr>
              <a:t>human needs </a:t>
            </a:r>
            <a:r>
              <a:rPr lang="en-US" sz="2400" dirty="0">
                <a:latin typeface="Times New Roman" panose="02020603050405020304" pitchFamily="18" charset="0"/>
                <a:cs typeface="Times New Roman" panose="02020603050405020304" pitchFamily="18" charset="0"/>
              </a:rPr>
              <a:t>in a safe, efficient, and sustainable way.</a:t>
            </a:r>
          </a:p>
          <a:p>
            <a:pPr marL="0" indent="0">
              <a:buNone/>
            </a:pPr>
            <a:endParaRPr lang="en-US" sz="2400" dirty="0">
              <a:latin typeface="Times New Roman" panose="02020603050405020304" pitchFamily="18" charset="0"/>
              <a:cs typeface="Times New Roman" panose="02020603050405020304" pitchFamily="18" charset="0"/>
            </a:endParaRPr>
          </a:p>
          <a:p>
            <a:r>
              <a:rPr sz="2400" b="1" dirty="0">
                <a:solidFill>
                  <a:srgbClr val="FF0000"/>
                </a:solidFill>
                <a:latin typeface="Times New Roman" panose="02020603050405020304" pitchFamily="18" charset="0"/>
                <a:cs typeface="Times New Roman" panose="02020603050405020304" pitchFamily="18" charset="0"/>
              </a:rPr>
              <a:t>Brief Overview:</a:t>
            </a:r>
          </a:p>
          <a:p>
            <a:pPr marL="0" indent="0">
              <a:buNone/>
            </a:pPr>
            <a:r>
              <a:rPr sz="2400" dirty="0">
                <a:latin typeface="Times New Roman" panose="02020603050405020304" pitchFamily="18" charset="0"/>
                <a:cs typeface="Times New Roman" panose="02020603050405020304" pitchFamily="18" charset="0"/>
              </a:rPr>
              <a:t>- Engineering as a body of knowledge (discipline)</a:t>
            </a:r>
          </a:p>
          <a:p>
            <a:pPr marL="0" indent="0">
              <a:buNone/>
            </a:pPr>
            <a:r>
              <a:rPr sz="2400" dirty="0">
                <a:latin typeface="Times New Roman" panose="02020603050405020304" pitchFamily="18" charset="0"/>
                <a:cs typeface="Times New Roman" panose="02020603050405020304" pitchFamily="18" charset="0"/>
              </a:rPr>
              <a:t>- Engineering as a career path (profession)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9896B-BCE1-E15B-9E3A-F4E5D5B371DF}"/>
            </a:ext>
          </a:extLst>
        </p:cNvPr>
        <p:cNvGrpSpPr/>
        <p:nvPr/>
      </p:nvGrpSpPr>
      <p:grpSpPr>
        <a:xfrm>
          <a:off x="0" y="0"/>
          <a:ext cx="0" cy="0"/>
          <a:chOff x="0" y="0"/>
          <a:chExt cx="0" cy="0"/>
        </a:xfrm>
      </p:grpSpPr>
      <p:pic>
        <p:nvPicPr>
          <p:cNvPr id="3074" name="Picture 2" descr="8 most essential skills that every engineer needs to have">
            <a:extLst>
              <a:ext uri="{FF2B5EF4-FFF2-40B4-BE49-F238E27FC236}">
                <a16:creationId xmlns:a16="http://schemas.microsoft.com/office/drawing/2014/main" id="{7C94AA96-9535-94F0-D08A-25B20CCCD1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1062038"/>
            <a:ext cx="8515350" cy="47339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E3D25B6-AF8C-A6B6-9E2F-1ED0C2853642}"/>
              </a:ext>
            </a:extLst>
          </p:cNvPr>
          <p:cNvSpPr txBox="1"/>
          <p:nvPr/>
        </p:nvSpPr>
        <p:spPr>
          <a:xfrm>
            <a:off x="314325" y="241540"/>
            <a:ext cx="8515350" cy="800219"/>
          </a:xfrm>
          <a:prstGeom prst="rect">
            <a:avLst/>
          </a:prstGeom>
          <a:noFill/>
        </p:spPr>
        <p:txBody>
          <a:bodyPr wrap="square" rtlCol="0">
            <a:spAutoFit/>
          </a:bodyPr>
          <a:lstStyle/>
          <a:p>
            <a:r>
              <a:rPr lang="en-US" sz="2800" b="1" dirty="0">
                <a:solidFill>
                  <a:srgbClr val="0000FF"/>
                </a:solidFill>
                <a:hlinkClick r:id="rId3">
                  <a:extLst>
                    <a:ext uri="{A12FA001-AC4F-418D-AE19-62706E023703}">
                      <ahyp:hlinkClr xmlns:ahyp="http://schemas.microsoft.com/office/drawing/2018/hyperlinkcolor" val="tx"/>
                    </a:ext>
                  </a:extLst>
                </a:hlinkClick>
              </a:rPr>
              <a:t>7 most essential </a:t>
            </a:r>
            <a:r>
              <a:rPr lang="en-US" sz="2800" b="1" dirty="0">
                <a:solidFill>
                  <a:srgbClr val="FF0000"/>
                </a:solidFill>
                <a:hlinkClick r:id="rId3">
                  <a:extLst>
                    <a:ext uri="{A12FA001-AC4F-418D-AE19-62706E023703}">
                      <ahyp:hlinkClr xmlns:ahyp="http://schemas.microsoft.com/office/drawing/2018/hyperlinkcolor" val="tx"/>
                    </a:ext>
                  </a:extLst>
                </a:hlinkClick>
              </a:rPr>
              <a:t>skills</a:t>
            </a:r>
            <a:r>
              <a:rPr lang="en-US" sz="2800" b="1" dirty="0">
                <a:solidFill>
                  <a:srgbClr val="0000FF"/>
                </a:solidFill>
                <a:hlinkClick r:id="rId3">
                  <a:extLst>
                    <a:ext uri="{A12FA001-AC4F-418D-AE19-62706E023703}">
                      <ahyp:hlinkClr xmlns:ahyp="http://schemas.microsoft.com/office/drawing/2018/hyperlinkcolor" val="tx"/>
                    </a:ext>
                  </a:extLst>
                </a:hlinkClick>
              </a:rPr>
              <a:t> that every engineer needs to have</a:t>
            </a:r>
          </a:p>
          <a:p>
            <a:pPr algn="ctr"/>
            <a:endParaRPr lang="en-IN" dirty="0"/>
          </a:p>
        </p:txBody>
      </p:sp>
    </p:spTree>
    <p:extLst>
      <p:ext uri="{BB962C8B-B14F-4D97-AF65-F5344CB8AC3E}">
        <p14:creationId xmlns:p14="http://schemas.microsoft.com/office/powerpoint/2010/main" val="2607849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3B8C1-0334-82C4-045A-F1D1662F05AE}"/>
            </a:ext>
          </a:extLst>
        </p:cNvPr>
        <p:cNvGrpSpPr/>
        <p:nvPr/>
      </p:nvGrpSpPr>
      <p:grpSpPr>
        <a:xfrm>
          <a:off x="0" y="0"/>
          <a:ext cx="0" cy="0"/>
          <a:chOff x="0" y="0"/>
          <a:chExt cx="0" cy="0"/>
        </a:xfrm>
      </p:grpSpPr>
      <p:pic>
        <p:nvPicPr>
          <p:cNvPr id="3" name="Picture 2" descr="How to Introduce Students to Engineering | ExploreLearning">
            <a:extLst>
              <a:ext uri="{FF2B5EF4-FFF2-40B4-BE49-F238E27FC236}">
                <a16:creationId xmlns:a16="http://schemas.microsoft.com/office/drawing/2014/main" id="{F5286279-91BF-F0F5-0A52-BFCBE45993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553" y="235335"/>
            <a:ext cx="5114027" cy="6622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981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19DD6-47EC-BCD1-177F-E59D46F28DA3}"/>
            </a:ext>
          </a:extLst>
        </p:cNvPr>
        <p:cNvGrpSpPr/>
        <p:nvPr/>
      </p:nvGrpSpPr>
      <p:grpSpPr>
        <a:xfrm>
          <a:off x="0" y="0"/>
          <a:ext cx="0" cy="0"/>
          <a:chOff x="0" y="0"/>
          <a:chExt cx="0" cy="0"/>
        </a:xfrm>
      </p:grpSpPr>
      <p:pic>
        <p:nvPicPr>
          <p:cNvPr id="2050" name="Picture 2" descr="Exploring student understanding of the engineering design process using  distractor analysis | International Journal of STEM Education | Full Text">
            <a:extLst>
              <a:ext uri="{FF2B5EF4-FFF2-40B4-BE49-F238E27FC236}">
                <a16:creationId xmlns:a16="http://schemas.microsoft.com/office/drawing/2014/main" id="{EE4C67A6-FCD5-2EF4-BDB2-6147712E2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947" y="30192"/>
            <a:ext cx="4167577" cy="6570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738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FD71-E11E-BD93-841F-3863DE2FF486}"/>
            </a:ext>
          </a:extLst>
        </p:cNvPr>
        <p:cNvGrpSpPr/>
        <p:nvPr/>
      </p:nvGrpSpPr>
      <p:grpSpPr>
        <a:xfrm>
          <a:off x="0" y="0"/>
          <a:ext cx="0" cy="0"/>
          <a:chOff x="0" y="0"/>
          <a:chExt cx="0" cy="0"/>
        </a:xfrm>
      </p:grpSpPr>
      <p:pic>
        <p:nvPicPr>
          <p:cNvPr id="2" name="Picture 2" descr="Part 1: The Engineering Design Process – Engineering Capstone Design">
            <a:extLst>
              <a:ext uri="{FF2B5EF4-FFF2-40B4-BE49-F238E27FC236}">
                <a16:creationId xmlns:a16="http://schemas.microsoft.com/office/drawing/2014/main" id="{2C170492-14D1-D6FD-D3A7-D4ED1D0E6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1287" y="0"/>
            <a:ext cx="37814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396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8124D-AB9C-9008-10C6-E65133727C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B320F5-04A1-B407-D1EB-EB8CC0DD6F50}"/>
              </a:ext>
            </a:extLst>
          </p:cNvPr>
          <p:cNvPicPr>
            <a:picLocks noChangeAspect="1"/>
          </p:cNvPicPr>
          <p:nvPr/>
        </p:nvPicPr>
        <p:blipFill>
          <a:blip r:embed="rId2"/>
          <a:stretch>
            <a:fillRect/>
          </a:stretch>
        </p:blipFill>
        <p:spPr>
          <a:xfrm>
            <a:off x="2953818" y="352615"/>
            <a:ext cx="3585006" cy="6296219"/>
          </a:xfrm>
          <a:prstGeom prst="rect">
            <a:avLst/>
          </a:prstGeom>
        </p:spPr>
      </p:pic>
    </p:spTree>
    <p:extLst>
      <p:ext uri="{BB962C8B-B14F-4D97-AF65-F5344CB8AC3E}">
        <p14:creationId xmlns:p14="http://schemas.microsoft.com/office/powerpoint/2010/main" val="3029329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3AAA5-BA6F-AE27-0B3F-73725AF945C2}"/>
            </a:ext>
          </a:extLst>
        </p:cNvPr>
        <p:cNvGrpSpPr/>
        <p:nvPr/>
      </p:nvGrpSpPr>
      <p:grpSpPr>
        <a:xfrm>
          <a:off x="0" y="0"/>
          <a:ext cx="0" cy="0"/>
          <a:chOff x="0" y="0"/>
          <a:chExt cx="0" cy="0"/>
        </a:xfrm>
      </p:grpSpPr>
      <p:pic>
        <p:nvPicPr>
          <p:cNvPr id="5122" name="Picture 2" descr="14 Tips for Becoming a Successful Engineer - SL Controls">
            <a:extLst>
              <a:ext uri="{FF2B5EF4-FFF2-40B4-BE49-F238E27FC236}">
                <a16:creationId xmlns:a16="http://schemas.microsoft.com/office/drawing/2014/main" id="{F32DB135-43B4-F1A3-D284-2FC1ACE5C8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6638"/>
            <a:ext cx="9144000" cy="478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756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38140-BC02-9CB3-59DE-B54363433EF2}"/>
            </a:ext>
          </a:extLst>
        </p:cNvPr>
        <p:cNvGrpSpPr/>
        <p:nvPr/>
      </p:nvGrpSpPr>
      <p:grpSpPr>
        <a:xfrm>
          <a:off x="0" y="0"/>
          <a:ext cx="0" cy="0"/>
          <a:chOff x="0" y="0"/>
          <a:chExt cx="0" cy="0"/>
        </a:xfrm>
      </p:grpSpPr>
      <p:pic>
        <p:nvPicPr>
          <p:cNvPr id="4098" name="Picture 2" descr="How Is Plastic Made? A Simple Step-By-Step Explanation">
            <a:extLst>
              <a:ext uri="{FF2B5EF4-FFF2-40B4-BE49-F238E27FC236}">
                <a16:creationId xmlns:a16="http://schemas.microsoft.com/office/drawing/2014/main" id="{65A5CA32-0959-711F-8F49-EC8D0E40CC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 y="0"/>
            <a:ext cx="88757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989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F04B6FE2-6CD8-56A0-C6D3-6A5FFDBF5078}"/>
              </a:ext>
            </a:extLst>
          </p:cNvPr>
          <p:cNvPicPr>
            <a:picLocks noChangeAspect="1"/>
          </p:cNvPicPr>
          <p:nvPr/>
        </p:nvPicPr>
        <p:blipFill>
          <a:blip r:embed="rId2"/>
          <a:srcRect l="13397" r="11589" b="-1"/>
          <a:stretch>
            <a:fillRect/>
          </a:stretch>
        </p:blipFill>
        <p:spPr>
          <a:xfrm>
            <a:off x="370956" y="349946"/>
            <a:ext cx="8212327" cy="6158107"/>
          </a:xfrm>
          <a:prstGeom prst="rect">
            <a:avLst/>
          </a:prstGeom>
        </p:spPr>
      </p:pic>
    </p:spTree>
    <p:extLst>
      <p:ext uri="{BB962C8B-B14F-4D97-AF65-F5344CB8AC3E}">
        <p14:creationId xmlns:p14="http://schemas.microsoft.com/office/powerpoint/2010/main" val="3078682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189782"/>
            <a:ext cx="4960242" cy="1725951"/>
          </a:xfrm>
        </p:spPr>
        <p:txBody>
          <a:bodyPr anchor="ctr">
            <a:normAutofit/>
          </a:bodyPr>
          <a:lstStyle/>
          <a:p>
            <a:r>
              <a:rPr lang="en-IN" sz="2400" b="1" dirty="0">
                <a:latin typeface="Times New Roman" panose="02020603050405020304" pitchFamily="18" charset="0"/>
                <a:cs typeface="Times New Roman" panose="02020603050405020304" pitchFamily="18" charset="0"/>
              </a:rPr>
              <a:t>Engineering as a Discipline</a:t>
            </a:r>
          </a:p>
        </p:txBody>
      </p:sp>
      <p:sp>
        <p:nvSpPr>
          <p:cNvPr id="3" name="Content Placeholder 2"/>
          <p:cNvSpPr>
            <a:spLocks noGrp="1"/>
          </p:cNvSpPr>
          <p:nvPr>
            <p:ph idx="1"/>
          </p:nvPr>
        </p:nvSpPr>
        <p:spPr>
          <a:xfrm>
            <a:off x="60386" y="1846053"/>
            <a:ext cx="5710686" cy="4822165"/>
          </a:xfrm>
        </p:spPr>
        <p:txBody>
          <a:bodyPr anchor="ctr">
            <a:noAutofit/>
          </a:bodyPr>
          <a:lstStyle/>
          <a:p>
            <a:pPr>
              <a:lnSpc>
                <a:spcPct val="90000"/>
              </a:lnSpc>
            </a:pPr>
            <a:r>
              <a:rPr lang="en-US" sz="2000" dirty="0">
                <a:latin typeface="Times New Roman" panose="02020603050405020304" pitchFamily="18" charset="0"/>
                <a:cs typeface="Times New Roman" panose="02020603050405020304" pitchFamily="18" charset="0"/>
              </a:rPr>
              <a:t>Engineering as a </a:t>
            </a:r>
            <a:r>
              <a:rPr lang="en-US" sz="2000" b="1" dirty="0">
                <a:latin typeface="Times New Roman" panose="02020603050405020304" pitchFamily="18" charset="0"/>
                <a:cs typeface="Times New Roman" panose="02020603050405020304" pitchFamily="18" charset="0"/>
              </a:rPr>
              <a:t>discipline</a:t>
            </a:r>
            <a:r>
              <a:rPr lang="en-US" sz="2000" dirty="0">
                <a:latin typeface="Times New Roman" panose="02020603050405020304" pitchFamily="18" charset="0"/>
                <a:cs typeface="Times New Roman" panose="02020603050405020304" pitchFamily="18" charset="0"/>
              </a:rPr>
              <a:t> refers to a </a:t>
            </a:r>
            <a:r>
              <a:rPr lang="en-US" sz="2000" b="1" dirty="0">
                <a:latin typeface="Times New Roman" panose="02020603050405020304" pitchFamily="18" charset="0"/>
                <a:cs typeface="Times New Roman" panose="02020603050405020304" pitchFamily="18" charset="0"/>
              </a:rPr>
              <a:t>branch of academic study and systematic knowledge</a:t>
            </a:r>
            <a:r>
              <a:rPr lang="en-US" sz="2000" dirty="0">
                <a:latin typeface="Times New Roman" panose="02020603050405020304" pitchFamily="18" charset="0"/>
                <a:cs typeface="Times New Roman" panose="02020603050405020304" pitchFamily="18" charset="0"/>
              </a:rPr>
              <a:t> that applies scientific and mathematical principles to solve real-world problems.</a:t>
            </a:r>
          </a:p>
          <a:p>
            <a:pPr>
              <a:lnSpc>
                <a:spcPct val="90000"/>
              </a:lnSpc>
            </a:pPr>
            <a:r>
              <a:rPr lang="en-US" sz="2000" dirty="0">
                <a:latin typeface="Times New Roman" panose="02020603050405020304" pitchFamily="18" charset="0"/>
                <a:cs typeface="Times New Roman" panose="02020603050405020304" pitchFamily="18" charset="0"/>
              </a:rPr>
              <a:t>Focus on problem-solving and innovation</a:t>
            </a:r>
          </a:p>
          <a:p>
            <a:pPr>
              <a:lnSpc>
                <a:spcPct val="90000"/>
              </a:lnSpc>
            </a:pPr>
            <a:r>
              <a:rPr lang="en-US" sz="2000" dirty="0">
                <a:latin typeface="Times New Roman" panose="02020603050405020304" pitchFamily="18" charset="0"/>
                <a:cs typeface="Times New Roman" panose="02020603050405020304" pitchFamily="18" charset="0"/>
              </a:rPr>
              <a:t>It involves learning theories, developing technologies, designing systems, and innovating solutions to improve life.</a:t>
            </a:r>
          </a:p>
          <a:p>
            <a:pPr>
              <a:lnSpc>
                <a:spcPct val="90000"/>
              </a:lnSpc>
            </a:pPr>
            <a:r>
              <a:rPr lang="en-US" sz="2000" b="1" dirty="0">
                <a:solidFill>
                  <a:srgbClr val="FF0000"/>
                </a:solidFill>
                <a:latin typeface="Times New Roman" panose="02020603050405020304" pitchFamily="18" charset="0"/>
                <a:cs typeface="Times New Roman" panose="02020603050405020304" pitchFamily="18" charset="0"/>
              </a:rPr>
              <a:t>Key branches:</a:t>
            </a:r>
          </a:p>
          <a:p>
            <a:pPr marL="0" indent="0">
              <a:lnSpc>
                <a:spcPct val="90000"/>
              </a:lnSpc>
              <a:buNone/>
            </a:pPr>
            <a:r>
              <a:rPr lang="en-US" sz="2000" dirty="0">
                <a:latin typeface="Times New Roman" panose="02020603050405020304" pitchFamily="18" charset="0"/>
                <a:cs typeface="Times New Roman" panose="02020603050405020304" pitchFamily="18" charset="0"/>
              </a:rPr>
              <a:t>Mechanical, Electrical, Civil, Chemical, Computer, etc.</a:t>
            </a:r>
          </a:p>
        </p:txBody>
      </p:sp>
      <p:pic>
        <p:nvPicPr>
          <p:cNvPr id="5" name="Picture 4" descr="Different science and technology icons on a green background">
            <a:extLst>
              <a:ext uri="{FF2B5EF4-FFF2-40B4-BE49-F238E27FC236}">
                <a16:creationId xmlns:a16="http://schemas.microsoft.com/office/drawing/2014/main" id="{837B3264-31D4-52A5-E1AA-2B34E0A0A1FF}"/>
              </a:ext>
            </a:extLst>
          </p:cNvPr>
          <p:cNvPicPr>
            <a:picLocks noChangeAspect="1"/>
          </p:cNvPicPr>
          <p:nvPr/>
        </p:nvPicPr>
        <p:blipFill>
          <a:blip r:embed="rId3"/>
          <a:srcRect l="30258" r="19686"/>
          <a:stretch>
            <a:fillRect/>
          </a:stretch>
        </p:blipFill>
        <p:spPr>
          <a:xfrm>
            <a:off x="5831458" y="2265945"/>
            <a:ext cx="3078184" cy="46121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b="1" dirty="0">
                <a:solidFill>
                  <a:srgbClr val="0070C0"/>
                </a:solidFill>
                <a:latin typeface="Times New Roman" panose="02020603050405020304" pitchFamily="18" charset="0"/>
                <a:cs typeface="Times New Roman" panose="02020603050405020304" pitchFamily="18" charset="0"/>
              </a:rPr>
              <a:t>Characteristics of Engineering Discipline</a:t>
            </a:r>
          </a:p>
        </p:txBody>
      </p:sp>
      <p:sp>
        <p:nvSpPr>
          <p:cNvPr id="3" name="Content Placeholder 2"/>
          <p:cNvSpPr>
            <a:spLocks noGrp="1"/>
          </p:cNvSpPr>
          <p:nvPr>
            <p:ph idx="1"/>
          </p:nvPr>
        </p:nvSpPr>
        <p:spPr/>
        <p:txBody>
          <a:bodyPr/>
          <a:lstStyle/>
          <a:p>
            <a:r>
              <a:rPr dirty="0">
                <a:latin typeface="Times New Roman" panose="02020603050405020304" pitchFamily="18" charset="0"/>
                <a:cs typeface="Times New Roman" panose="02020603050405020304" pitchFamily="18" charset="0"/>
              </a:rPr>
              <a:t>Interdisciplinary nature</a:t>
            </a:r>
          </a:p>
          <a:p>
            <a:r>
              <a:rPr dirty="0">
                <a:latin typeface="Times New Roman" panose="02020603050405020304" pitchFamily="18" charset="0"/>
                <a:cs typeface="Times New Roman" panose="02020603050405020304" pitchFamily="18" charset="0"/>
              </a:rPr>
              <a:t>Strong foundation in math and science</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Involves design, analysis, experimentation</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Emphasis on continual improvement and lifelong learning</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Key Components of Engineering as a Discipline</a:t>
            </a:r>
            <a:endParaRPr lang="en-IN"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68960" y="1691640"/>
            <a:ext cx="8229600" cy="4525963"/>
          </a:xfrm>
        </p:spPr>
        <p:txBody>
          <a:bodyPr>
            <a:normAutofit fontScale="92500"/>
          </a:bodyPr>
          <a:lstStyle/>
          <a:p>
            <a:pPr marL="0" indent="0" algn="just">
              <a:buNone/>
            </a:pPr>
            <a:r>
              <a:rPr lang="en-US" b="1" dirty="0">
                <a:latin typeface="Times New Roman" panose="02020603050405020304" pitchFamily="18" charset="0"/>
                <a:cs typeface="Times New Roman" panose="02020603050405020304" pitchFamily="18" charset="0"/>
              </a:rPr>
              <a:t>1. Scientific Foundation:</a:t>
            </a:r>
            <a:endParaRPr lang="en-US" dirty="0">
              <a:latin typeface="Times New Roman" panose="02020603050405020304" pitchFamily="18" charset="0"/>
              <a:cs typeface="Times New Roman" panose="02020603050405020304" pitchFamily="18" charset="0"/>
            </a:endParaRPr>
          </a:p>
          <a:p>
            <a:pPr marL="0" indent="0" algn="just">
              <a:buNone/>
            </a:pPr>
            <a:r>
              <a:rPr lang="en-US" sz="3000" dirty="0">
                <a:latin typeface="Times New Roman" panose="02020603050405020304" pitchFamily="18" charset="0"/>
                <a:cs typeface="Times New Roman" panose="02020603050405020304" pitchFamily="18" charset="0"/>
              </a:rPr>
              <a:t>Engineers must understand the laws of nature—how forces act, how energy flows, and how materials behave. This knowledge comes from physics, chemistry, and biology.</a:t>
            </a:r>
          </a:p>
          <a:p>
            <a:pPr marL="0" indent="0">
              <a:buNone/>
            </a:pPr>
            <a:r>
              <a:rPr lang="en-US" b="1" dirty="0"/>
              <a:t>2. </a:t>
            </a:r>
            <a:r>
              <a:rPr lang="en-US" b="1" dirty="0">
                <a:latin typeface="Times New Roman" panose="02020603050405020304" pitchFamily="18" charset="0"/>
                <a:cs typeface="Times New Roman" panose="02020603050405020304" pitchFamily="18" charset="0"/>
              </a:rPr>
              <a:t>Mathematical Modeling:</a:t>
            </a:r>
            <a:endParaRPr lang="en-US" dirty="0">
              <a:latin typeface="Times New Roman" panose="02020603050405020304" pitchFamily="18" charset="0"/>
              <a:cs typeface="Times New Roman" panose="02020603050405020304" pitchFamily="18" charset="0"/>
            </a:endParaRPr>
          </a:p>
          <a:p>
            <a:pPr marL="0" indent="0" algn="just">
              <a:buNone/>
            </a:pPr>
            <a:r>
              <a:rPr lang="en-US" sz="3000" dirty="0">
                <a:latin typeface="Times New Roman" panose="02020603050405020304" pitchFamily="18" charset="0"/>
                <a:cs typeface="Times New Roman" panose="02020603050405020304" pitchFamily="18" charset="0"/>
              </a:rPr>
              <a:t>Mathematics is the language of engineering. Engineers use equations and formulas to model systems, predict outcomes, and optimize performance.</a:t>
            </a:r>
          </a:p>
          <a:p>
            <a:endParaRPr lang="en-IN" dirty="0"/>
          </a:p>
        </p:txBody>
      </p:sp>
    </p:spTree>
    <p:extLst>
      <p:ext uri="{BB962C8B-B14F-4D97-AF65-F5344CB8AC3E}">
        <p14:creationId xmlns:p14="http://schemas.microsoft.com/office/powerpoint/2010/main" val="1440547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120" y="756920"/>
            <a:ext cx="8605520" cy="5491480"/>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3. Design Thinking:</a:t>
            </a: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Engineering students are trained to think creatively and logically. They learn how to define a problem, brainstorm solutions, model and simulate designs, and improve systems through iteration.</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4. Technical Knowledge:</a:t>
            </a: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Each branch of engineering whether it’s mechanical, electrical, civil, electronics, chemical, or computer has its own technical core. Students dive deep into specialized subjects relevant to that field.</a:t>
            </a:r>
          </a:p>
          <a:p>
            <a:pPr algn="just"/>
            <a:endParaRPr lang="en-US" sz="33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08947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49960"/>
            <a:ext cx="8229600" cy="4525963"/>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5. </a:t>
            </a:r>
            <a:r>
              <a:rPr lang="en-IN" b="1" dirty="0">
                <a:latin typeface="Times New Roman" panose="02020603050405020304" pitchFamily="18" charset="0"/>
                <a:cs typeface="Times New Roman" panose="02020603050405020304" pitchFamily="18" charset="0"/>
              </a:rPr>
              <a:t>Experimentation and Analysis:</a:t>
            </a:r>
          </a:p>
          <a:p>
            <a:pPr marL="0" indent="0" algn="just">
              <a:buNone/>
            </a:pPr>
            <a:r>
              <a:rPr lang="en-US" sz="2800" dirty="0">
                <a:latin typeface="Times New Roman" panose="02020603050405020304" pitchFamily="18" charset="0"/>
                <a:cs typeface="Times New Roman" panose="02020603050405020304" pitchFamily="18" charset="0"/>
              </a:rPr>
              <a:t>Labs and experiments help engineers validate theories. They collect data, analyze results, and understand how things work in real-world scenarios.</a:t>
            </a:r>
          </a:p>
          <a:p>
            <a:pPr marL="0" indent="0">
              <a:buNone/>
            </a:pPr>
            <a:endParaRPr lang="en-US" sz="2800" b="1"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6.</a:t>
            </a:r>
            <a:r>
              <a:rPr lang="en-IN" sz="2800" dirty="0"/>
              <a:t> </a:t>
            </a:r>
            <a:r>
              <a:rPr lang="en-IN" b="1" dirty="0">
                <a:latin typeface="Times New Roman" panose="02020603050405020304" pitchFamily="18" charset="0"/>
                <a:cs typeface="Times New Roman" panose="02020603050405020304" pitchFamily="18" charset="0"/>
              </a:rPr>
              <a:t>Innovation and Research:</a:t>
            </a:r>
          </a:p>
          <a:p>
            <a:pPr marL="0" indent="0" algn="just">
              <a:buNone/>
            </a:pPr>
            <a:r>
              <a:rPr lang="en-US" sz="2800" dirty="0">
                <a:latin typeface="Times New Roman" panose="02020603050405020304" pitchFamily="18" charset="0"/>
                <a:cs typeface="Times New Roman" panose="02020603050405020304" pitchFamily="18" charset="0"/>
              </a:rPr>
              <a:t>Engineering as a discipline encourages innovation developing new materials, creating energy efficient systems, improving manufacturing processes, and advancing technology through research.</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581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84200"/>
            <a:ext cx="8138160" cy="6101080"/>
          </a:xfrm>
        </p:spPr>
        <p:txBody>
          <a:bodyPr>
            <a:normAutofit/>
          </a:bodyPr>
          <a:lstStyle/>
          <a:p>
            <a:pPr marL="0" indent="0" algn="ctr">
              <a:buNone/>
            </a:pPr>
            <a:r>
              <a:rPr lang="en-US" sz="4000" b="1" dirty="0">
                <a:solidFill>
                  <a:schemeClr val="accent1"/>
                </a:solidFill>
                <a:latin typeface="Times New Roman" panose="02020603050405020304" pitchFamily="18" charset="0"/>
                <a:cs typeface="Times New Roman" panose="02020603050405020304" pitchFamily="18" charset="0"/>
              </a:rPr>
              <a:t>Examples in Academic Context:</a:t>
            </a:r>
          </a:p>
          <a:p>
            <a:pPr marL="0" indent="0" algn="ctr">
              <a:buNone/>
            </a:pPr>
            <a:endParaRPr lang="en-US" sz="4000" b="1" dirty="0">
              <a:solidFill>
                <a:schemeClr val="accent1"/>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mechanical engineering student</a:t>
            </a:r>
            <a:r>
              <a:rPr lang="en-US" sz="2800" dirty="0">
                <a:latin typeface="Times New Roman" panose="02020603050405020304" pitchFamily="18" charset="0"/>
                <a:cs typeface="Times New Roman" panose="02020603050405020304" pitchFamily="18" charset="0"/>
              </a:rPr>
              <a:t> learns about thermodynamics, machine design, and manufacturing processes.</a:t>
            </a:r>
          </a:p>
          <a:p>
            <a:pPr algn="just"/>
            <a:r>
              <a:rPr lang="en-US" sz="2800" dirty="0">
                <a:latin typeface="Times New Roman" panose="02020603050405020304" pitchFamily="18" charset="0"/>
                <a:cs typeface="Times New Roman" panose="02020603050405020304" pitchFamily="18" charset="0"/>
              </a:rPr>
              <a:t>An </a:t>
            </a:r>
            <a:r>
              <a:rPr lang="en-US" sz="2800" b="1" dirty="0">
                <a:latin typeface="Times New Roman" panose="02020603050405020304" pitchFamily="18" charset="0"/>
                <a:cs typeface="Times New Roman" panose="02020603050405020304" pitchFamily="18" charset="0"/>
              </a:rPr>
              <a:t>electrical engineering student</a:t>
            </a:r>
            <a:r>
              <a:rPr lang="en-US" sz="2800" dirty="0">
                <a:latin typeface="Times New Roman" panose="02020603050405020304" pitchFamily="18" charset="0"/>
                <a:cs typeface="Times New Roman" panose="02020603050405020304" pitchFamily="18" charset="0"/>
              </a:rPr>
              <a:t> studies circuit theory, electromagnetism, and signal processing.</a:t>
            </a: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computer science student</a:t>
            </a:r>
            <a:r>
              <a:rPr lang="en-US" sz="2800" dirty="0">
                <a:latin typeface="Times New Roman" panose="02020603050405020304" pitchFamily="18" charset="0"/>
                <a:cs typeface="Times New Roman" panose="02020603050405020304" pitchFamily="18" charset="0"/>
              </a:rPr>
              <a:t> explores algorithms, programming languages, artificial intelligence, and data structures.</a:t>
            </a:r>
          </a:p>
          <a:p>
            <a:endParaRPr lang="en-IN" dirty="0"/>
          </a:p>
        </p:txBody>
      </p:sp>
    </p:spTree>
    <p:extLst>
      <p:ext uri="{BB962C8B-B14F-4D97-AF65-F5344CB8AC3E}">
        <p14:creationId xmlns:p14="http://schemas.microsoft.com/office/powerpoint/2010/main" val="1446233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32802"/>
          </a:xfrm>
        </p:spPr>
        <p:txBody>
          <a:bodyPr>
            <a:normAutofit/>
          </a:bodyPr>
          <a:lstStyle/>
          <a:p>
            <a:r>
              <a:rPr sz="4000" b="1" dirty="0">
                <a:solidFill>
                  <a:schemeClr val="accent1"/>
                </a:solidFill>
                <a:latin typeface="Times New Roman" panose="02020603050405020304" pitchFamily="18" charset="0"/>
                <a:cs typeface="Times New Roman" panose="02020603050405020304" pitchFamily="18" charset="0"/>
              </a:rPr>
              <a:t>Engineering as a Profession</a:t>
            </a:r>
          </a:p>
        </p:txBody>
      </p:sp>
      <p:sp>
        <p:nvSpPr>
          <p:cNvPr id="3" name="Content Placeholder 2"/>
          <p:cNvSpPr>
            <a:spLocks noGrp="1"/>
          </p:cNvSpPr>
          <p:nvPr>
            <p:ph idx="1"/>
          </p:nvPr>
        </p:nvSpPr>
        <p:spPr>
          <a:xfrm>
            <a:off x="457200" y="1107440"/>
            <a:ext cx="8229600" cy="5471160"/>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Engineering as a </a:t>
            </a:r>
            <a:r>
              <a:rPr lang="en-US" b="1" dirty="0">
                <a:solidFill>
                  <a:srgbClr val="FF0000"/>
                </a:solidFill>
                <a:latin typeface="Times New Roman" panose="02020603050405020304" pitchFamily="18" charset="0"/>
                <a:cs typeface="Times New Roman" panose="02020603050405020304" pitchFamily="18" charset="0"/>
              </a:rPr>
              <a:t>profession</a:t>
            </a:r>
            <a:r>
              <a:rPr lang="en-US" dirty="0">
                <a:latin typeface="Times New Roman" panose="02020603050405020304" pitchFamily="18" charset="0"/>
                <a:cs typeface="Times New Roman" panose="02020603050405020304" pitchFamily="18" charset="0"/>
              </a:rPr>
              <a:t> goes beyond classroom learning—it is the </a:t>
            </a:r>
            <a:r>
              <a:rPr lang="en-US" b="1" dirty="0">
                <a:solidFill>
                  <a:srgbClr val="FF0000"/>
                </a:solidFill>
                <a:latin typeface="Times New Roman" panose="02020603050405020304" pitchFamily="18" charset="0"/>
                <a:cs typeface="Times New Roman" panose="02020603050405020304" pitchFamily="18" charset="0"/>
              </a:rPr>
              <a:t>practical application</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of engineering knowledge to </a:t>
            </a:r>
            <a:r>
              <a:rPr lang="en-US" b="1" dirty="0">
                <a:solidFill>
                  <a:srgbClr val="FF0000"/>
                </a:solidFill>
                <a:latin typeface="Times New Roman" panose="02020603050405020304" pitchFamily="18" charset="0"/>
                <a:cs typeface="Times New Roman" panose="02020603050405020304" pitchFamily="18" charset="0"/>
              </a:rPr>
              <a:t>design, develop, operate, and maintain</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systems, products, and processes that serve the needs of society.</a:t>
            </a:r>
          </a:p>
          <a:p>
            <a:pPr algn="just"/>
            <a:r>
              <a:rPr lang="en-US" dirty="0">
                <a:latin typeface="Times New Roman" panose="02020603050405020304" pitchFamily="18" charset="0"/>
                <a:cs typeface="Times New Roman" panose="02020603050405020304" pitchFamily="18" charset="0"/>
              </a:rPr>
              <a:t>A professional engineer takes on real-world challenges and works to solve them responsibly, ethically, and efficiently.</a:t>
            </a:r>
          </a:p>
          <a:p>
            <a:pPr algn="just"/>
            <a:r>
              <a:rPr dirty="0">
                <a:latin typeface="Times New Roman" panose="02020603050405020304" pitchFamily="18" charset="0"/>
                <a:cs typeface="Times New Roman" panose="02020603050405020304" pitchFamily="18" charset="0"/>
              </a:rPr>
              <a:t>Application of engineering knowledge for societal benefit</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algn="just"/>
            <a:r>
              <a:rPr dirty="0">
                <a:latin typeface="Times New Roman" panose="02020603050405020304" pitchFamily="18" charset="0"/>
                <a:cs typeface="Times New Roman" panose="02020603050405020304" pitchFamily="18" charset="0"/>
              </a:rPr>
              <a:t>Licensed and regulated by professional bodies (e.g., IEEE, ASCE, NEC)</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algn="just"/>
            <a:r>
              <a:rPr dirty="0">
                <a:latin typeface="Times New Roman" panose="02020603050405020304" pitchFamily="18" charset="0"/>
                <a:cs typeface="Times New Roman" panose="02020603050405020304" pitchFamily="18" charset="0"/>
              </a:rPr>
              <a:t>Career-oriented focus: roles in industry, government, and consultancy</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latin typeface="Times New Roman" panose="02020603050405020304" pitchFamily="18" charset="0"/>
                <a:cs typeface="Times New Roman" panose="02020603050405020304" pitchFamily="18" charset="0"/>
              </a:rPr>
              <a:t>Key Elements of Engineering as a Profession</a:t>
            </a:r>
            <a:endParaRPr b="1" dirty="0">
              <a:solidFill>
                <a:schemeClr val="accent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350520" y="1443038"/>
            <a:ext cx="8442960" cy="4881880"/>
          </a:xfrm>
        </p:spPr>
        <p:txBody>
          <a:bodyPr>
            <a:normAutofit/>
          </a:bodyPr>
          <a:lstStyle/>
          <a:p>
            <a:pPr marL="514350" indent="-514350">
              <a:buAutoNum type="arabicPeriod"/>
            </a:pPr>
            <a:r>
              <a:rPr lang="en-IN" sz="2800" b="1" dirty="0">
                <a:latin typeface="Times New Roman" panose="02020603050405020304" pitchFamily="18" charset="0"/>
                <a:cs typeface="Times New Roman" panose="02020603050405020304" pitchFamily="18" charset="0"/>
              </a:rPr>
              <a:t>Application of Knowledge:</a:t>
            </a:r>
          </a:p>
          <a:p>
            <a:pPr marL="0" indent="0" algn="just">
              <a:buNone/>
            </a:pPr>
            <a:r>
              <a:rPr lang="en-US" sz="2800" dirty="0">
                <a:latin typeface="Times New Roman" panose="02020603050405020304" pitchFamily="18" charset="0"/>
                <a:cs typeface="Times New Roman" panose="02020603050405020304" pitchFamily="18" charset="0"/>
              </a:rPr>
              <a:t>Engineers use the theories and principles learned during their academic training to solve problems in industries such as construction, manufacturing, energy, healthcare, information technology, and transportation</a:t>
            </a:r>
            <a:r>
              <a:rPr lang="en-US" sz="2800" dirty="0"/>
              <a:t>.</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Example: A mechanical engineer designs an energy-efficient HVAC system for a hospital using thermodynamics and fluid flow principles.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4160" y="939800"/>
            <a:ext cx="8473440" cy="5684520"/>
          </a:xfrm>
        </p:spPr>
        <p:txBody>
          <a:bodyPr/>
          <a:lstStyle/>
          <a:p>
            <a:pPr marL="0" indent="0">
              <a:buNone/>
            </a:pPr>
            <a:r>
              <a:rPr lang="en-IN" sz="2800" b="1" dirty="0">
                <a:latin typeface="Times New Roman" panose="02020603050405020304" pitchFamily="18" charset="0"/>
                <a:cs typeface="Times New Roman" panose="02020603050405020304" pitchFamily="18" charset="0"/>
              </a:rPr>
              <a:t>2. Professional Responsibility:</a:t>
            </a:r>
          </a:p>
          <a:p>
            <a:pPr marL="0" indent="0" algn="just">
              <a:buNone/>
            </a:pPr>
            <a:r>
              <a:rPr lang="en-US" sz="2800" dirty="0">
                <a:latin typeface="Times New Roman" panose="02020603050405020304" pitchFamily="18" charset="0"/>
                <a:cs typeface="Times New Roman" panose="02020603050405020304" pitchFamily="18" charset="0"/>
              </a:rPr>
              <a:t>Engineering is not just about solving technical problems; it also </a:t>
            </a:r>
            <a:r>
              <a:rPr lang="en-US" sz="2800" b="1" dirty="0">
                <a:solidFill>
                  <a:srgbClr val="FF0000"/>
                </a:solidFill>
                <a:latin typeface="Times New Roman" panose="02020603050405020304" pitchFamily="18" charset="0"/>
                <a:cs typeface="Times New Roman" panose="02020603050405020304" pitchFamily="18" charset="0"/>
              </a:rPr>
              <a:t>involves making decisions that affect people, property, and the environment</a:t>
            </a:r>
            <a:r>
              <a:rPr lang="en-US" sz="2800" dirty="0">
                <a:latin typeface="Times New Roman" panose="02020603050405020304" pitchFamily="18" charset="0"/>
                <a:cs typeface="Times New Roman" panose="02020603050405020304" pitchFamily="18" charset="0"/>
              </a:rPr>
              <a:t>. Engineers are trusted to act in the public interest.</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Example: A structural engineer must ensure a building is safe, sustainable, and compliant with regulations—lives may depend on it.</a:t>
            </a:r>
          </a:p>
          <a:p>
            <a:pPr marL="0" indent="0" algn="just">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3653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 y="462280"/>
            <a:ext cx="8361680" cy="5979160"/>
          </a:xfrm>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3. Ethics and Integrity:</a:t>
            </a:r>
          </a:p>
          <a:p>
            <a:pPr marL="0" indent="0" algn="just">
              <a:buNone/>
            </a:pPr>
            <a:r>
              <a:rPr lang="en-US" sz="2800" dirty="0">
                <a:latin typeface="Times New Roman" panose="02020603050405020304" pitchFamily="18" charset="0"/>
                <a:cs typeface="Times New Roman" panose="02020603050405020304" pitchFamily="18" charset="0"/>
              </a:rPr>
              <a:t>Professional engineers follow a </a:t>
            </a:r>
            <a:r>
              <a:rPr lang="en-US" sz="2800" b="1" dirty="0">
                <a:solidFill>
                  <a:srgbClr val="FF0000"/>
                </a:solidFill>
                <a:latin typeface="Times New Roman" panose="02020603050405020304" pitchFamily="18" charset="0"/>
                <a:cs typeface="Times New Roman" panose="02020603050405020304" pitchFamily="18" charset="0"/>
              </a:rPr>
              <a:t>code of ethics</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which includes honesty, accountability, fairness, and respect for others. They must avoid conflicts of interest, ensure transparency, and always prioritize safety over profits.</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Example: An engineer must refuse to certify a faulty design, even under pressure from management, if it compromises safety.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006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080" y="441960"/>
            <a:ext cx="8371840" cy="6212840"/>
          </a:xfrm>
        </p:spPr>
        <p:txBody>
          <a:bodyPr>
            <a:normAutofit fontScale="40000" lnSpcReduction="20000"/>
          </a:bodyPr>
          <a:lstStyle/>
          <a:p>
            <a:pPr marL="0" indent="0" algn="just">
              <a:buNone/>
            </a:pPr>
            <a:r>
              <a:rPr lang="en-US" sz="5900" b="1" dirty="0">
                <a:latin typeface="Times New Roman" panose="02020603050405020304" pitchFamily="18" charset="0"/>
                <a:cs typeface="Times New Roman" panose="02020603050405020304" pitchFamily="18" charset="0"/>
              </a:rPr>
              <a:t>4. License and Certification:</a:t>
            </a:r>
          </a:p>
          <a:p>
            <a:pPr marL="0" indent="0" algn="just">
              <a:buNone/>
            </a:pPr>
            <a:r>
              <a:rPr lang="en-US" sz="7000" dirty="0">
                <a:latin typeface="Times New Roman" panose="02020603050405020304" pitchFamily="18" charset="0"/>
                <a:cs typeface="Times New Roman" panose="02020603050405020304" pitchFamily="18" charset="0"/>
              </a:rPr>
              <a:t>In many countries, engineers are required to obtain a </a:t>
            </a:r>
            <a:r>
              <a:rPr lang="en-US" sz="7000" b="1" dirty="0">
                <a:solidFill>
                  <a:srgbClr val="FF0000"/>
                </a:solidFill>
                <a:latin typeface="Times New Roman" panose="02020603050405020304" pitchFamily="18" charset="0"/>
                <a:cs typeface="Times New Roman" panose="02020603050405020304" pitchFamily="18" charset="0"/>
              </a:rPr>
              <a:t>professional license</a:t>
            </a:r>
            <a:r>
              <a:rPr lang="en-US" sz="7000" dirty="0">
                <a:solidFill>
                  <a:srgbClr val="FF0000"/>
                </a:solidFill>
                <a:latin typeface="Times New Roman" panose="02020603050405020304" pitchFamily="18" charset="0"/>
                <a:cs typeface="Times New Roman" panose="02020603050405020304" pitchFamily="18" charset="0"/>
              </a:rPr>
              <a:t> </a:t>
            </a:r>
            <a:r>
              <a:rPr lang="en-US" sz="7000" dirty="0">
                <a:latin typeface="Times New Roman" panose="02020603050405020304" pitchFamily="18" charset="0"/>
                <a:cs typeface="Times New Roman" panose="02020603050405020304" pitchFamily="18" charset="0"/>
              </a:rPr>
              <a:t>(e.g., PE – Professional Engineer) to legally practice and sign off on projects. This ensures they have the </a:t>
            </a:r>
            <a:r>
              <a:rPr lang="en-US" sz="7000" b="1" dirty="0">
                <a:solidFill>
                  <a:srgbClr val="FF0000"/>
                </a:solidFill>
                <a:latin typeface="Times New Roman" panose="02020603050405020304" pitchFamily="18" charset="0"/>
                <a:cs typeface="Times New Roman" panose="02020603050405020304" pitchFamily="18" charset="0"/>
              </a:rPr>
              <a:t>competence and experience</a:t>
            </a:r>
            <a:r>
              <a:rPr lang="en-US" sz="7000" dirty="0">
                <a:solidFill>
                  <a:srgbClr val="FF0000"/>
                </a:solidFill>
                <a:latin typeface="Times New Roman" panose="02020603050405020304" pitchFamily="18" charset="0"/>
                <a:cs typeface="Times New Roman" panose="02020603050405020304" pitchFamily="18" charset="0"/>
              </a:rPr>
              <a:t> </a:t>
            </a:r>
            <a:r>
              <a:rPr lang="en-US" sz="7000" dirty="0">
                <a:latin typeface="Times New Roman" panose="02020603050405020304" pitchFamily="18" charset="0"/>
                <a:cs typeface="Times New Roman" panose="02020603050405020304" pitchFamily="18" charset="0"/>
              </a:rPr>
              <a:t>needed to perform critical work.</a:t>
            </a:r>
          </a:p>
          <a:p>
            <a:pPr marL="0" indent="0" algn="just">
              <a:buNone/>
            </a:pPr>
            <a:endParaRPr lang="en-US" sz="4500" dirty="0">
              <a:latin typeface="Times New Roman" panose="02020603050405020304" pitchFamily="18" charset="0"/>
              <a:cs typeface="Times New Roman" panose="02020603050405020304" pitchFamily="18" charset="0"/>
            </a:endParaRPr>
          </a:p>
          <a:p>
            <a:pPr marL="0" indent="0" algn="just">
              <a:buNone/>
            </a:pPr>
            <a:r>
              <a:rPr lang="en-US" sz="5100" b="1" dirty="0">
                <a:latin typeface="Times New Roman" panose="02020603050405020304" pitchFamily="18" charset="0"/>
                <a:cs typeface="Times New Roman" panose="02020603050405020304" pitchFamily="18" charset="0"/>
              </a:rPr>
              <a:t>Example:</a:t>
            </a:r>
            <a:endParaRPr lang="en-US" sz="5100" dirty="0">
              <a:latin typeface="Times New Roman" panose="02020603050405020304" pitchFamily="18" charset="0"/>
              <a:cs typeface="Times New Roman" panose="02020603050405020304" pitchFamily="18" charset="0"/>
            </a:endParaRPr>
          </a:p>
          <a:p>
            <a:pPr marL="0" indent="0" algn="just">
              <a:buNone/>
            </a:pPr>
            <a:r>
              <a:rPr lang="en-US" sz="5100" dirty="0">
                <a:latin typeface="Times New Roman" panose="02020603050405020304" pitchFamily="18" charset="0"/>
                <a:cs typeface="Times New Roman" panose="02020603050405020304" pitchFamily="18" charset="0"/>
              </a:rPr>
              <a:t>In </a:t>
            </a:r>
            <a:r>
              <a:rPr lang="en-US" sz="5100" b="1" dirty="0">
                <a:latin typeface="Times New Roman" panose="02020603050405020304" pitchFamily="18" charset="0"/>
                <a:cs typeface="Times New Roman" panose="02020603050405020304" pitchFamily="18" charset="0"/>
              </a:rPr>
              <a:t>India</a:t>
            </a:r>
            <a:r>
              <a:rPr lang="en-US" sz="5100" dirty="0">
                <a:latin typeface="Times New Roman" panose="02020603050405020304" pitchFamily="18" charset="0"/>
                <a:cs typeface="Times New Roman" panose="02020603050405020304" pitchFamily="18" charset="0"/>
              </a:rPr>
              <a:t>, an engineer working on a government infrastructure project—such as the design and approval of a national highway—must often be a </a:t>
            </a:r>
            <a:r>
              <a:rPr lang="en-US" sz="5100" b="1" dirty="0">
                <a:solidFill>
                  <a:srgbClr val="FF0000"/>
                </a:solidFill>
                <a:latin typeface="Times New Roman" panose="02020603050405020304" pitchFamily="18" charset="0"/>
                <a:cs typeface="Times New Roman" panose="02020603050405020304" pitchFamily="18" charset="0"/>
              </a:rPr>
              <a:t>Chartered Engineer (CE)</a:t>
            </a:r>
            <a:r>
              <a:rPr lang="en-US" sz="5100" dirty="0">
                <a:solidFill>
                  <a:srgbClr val="FF0000"/>
                </a:solidFill>
                <a:latin typeface="Times New Roman" panose="02020603050405020304" pitchFamily="18" charset="0"/>
                <a:cs typeface="Times New Roman" panose="02020603050405020304" pitchFamily="18" charset="0"/>
              </a:rPr>
              <a:t> </a:t>
            </a:r>
            <a:r>
              <a:rPr lang="en-US" sz="5100" dirty="0">
                <a:latin typeface="Times New Roman" panose="02020603050405020304" pitchFamily="18" charset="0"/>
                <a:cs typeface="Times New Roman" panose="02020603050405020304" pitchFamily="18" charset="0"/>
              </a:rPr>
              <a:t>registered with the </a:t>
            </a:r>
            <a:r>
              <a:rPr lang="en-US" sz="5100" b="1" dirty="0">
                <a:solidFill>
                  <a:srgbClr val="FF0000"/>
                </a:solidFill>
                <a:latin typeface="Times New Roman" panose="02020603050405020304" pitchFamily="18" charset="0"/>
                <a:cs typeface="Times New Roman" panose="02020603050405020304" pitchFamily="18" charset="0"/>
              </a:rPr>
              <a:t>Institution of Engineers (India) [IEI]</a:t>
            </a:r>
            <a:r>
              <a:rPr lang="en-US" sz="5100" dirty="0">
                <a:solidFill>
                  <a:srgbClr val="FF0000"/>
                </a:solidFill>
                <a:latin typeface="Times New Roman" panose="02020603050405020304" pitchFamily="18" charset="0"/>
                <a:cs typeface="Times New Roman" panose="02020603050405020304" pitchFamily="18" charset="0"/>
              </a:rPr>
              <a:t>.</a:t>
            </a:r>
            <a:r>
              <a:rPr lang="en-US" sz="5100" dirty="0">
                <a:latin typeface="Times New Roman" panose="02020603050405020304" pitchFamily="18" charset="0"/>
                <a:cs typeface="Times New Roman" panose="02020603050405020304" pitchFamily="18" charset="0"/>
              </a:rPr>
              <a:t> This certification validates their professional competence and allows them to sign technical documents, drawings, and certifications required by government agencies and regulatory bodies like the CPWD, Indian Railways, or NHAI.</a:t>
            </a:r>
          </a:p>
          <a:p>
            <a:pPr marL="0" indent="0" algn="just">
              <a:buNone/>
            </a:pPr>
            <a:endParaRPr lang="en-US" sz="5100" dirty="0">
              <a:latin typeface="Times New Roman" panose="02020603050405020304" pitchFamily="18" charset="0"/>
              <a:cs typeface="Times New Roman" panose="02020603050405020304" pitchFamily="18" charset="0"/>
            </a:endParaRPr>
          </a:p>
          <a:p>
            <a:pPr marL="0" indent="0" algn="just">
              <a:buNone/>
            </a:pPr>
            <a:r>
              <a:rPr lang="en-US" sz="5100" dirty="0">
                <a:latin typeface="Times New Roman" panose="02020603050405020304" pitchFamily="18" charset="0"/>
                <a:cs typeface="Times New Roman" panose="02020603050405020304" pitchFamily="18" charset="0"/>
              </a:rPr>
              <a:t>In the </a:t>
            </a:r>
            <a:r>
              <a:rPr lang="en-US" sz="5100" b="1" dirty="0">
                <a:latin typeface="Times New Roman" panose="02020603050405020304" pitchFamily="18" charset="0"/>
                <a:cs typeface="Times New Roman" panose="02020603050405020304" pitchFamily="18" charset="0"/>
              </a:rPr>
              <a:t>United States</a:t>
            </a:r>
            <a:r>
              <a:rPr lang="en-US" sz="5100" dirty="0">
                <a:latin typeface="Times New Roman" panose="02020603050405020304" pitchFamily="18" charset="0"/>
                <a:cs typeface="Times New Roman" panose="02020603050405020304" pitchFamily="18" charset="0"/>
              </a:rPr>
              <a:t>, a civil engineer must obtain a </a:t>
            </a:r>
            <a:r>
              <a:rPr lang="en-US" sz="5100" b="1" dirty="0">
                <a:solidFill>
                  <a:srgbClr val="FF0000"/>
                </a:solidFill>
                <a:latin typeface="Times New Roman" panose="02020603050405020304" pitchFamily="18" charset="0"/>
                <a:cs typeface="Times New Roman" panose="02020603050405020304" pitchFamily="18" charset="0"/>
              </a:rPr>
              <a:t>Professional Engineer (PE) license</a:t>
            </a:r>
            <a:r>
              <a:rPr lang="en-US" sz="5100" dirty="0">
                <a:solidFill>
                  <a:srgbClr val="FF0000"/>
                </a:solidFill>
                <a:latin typeface="Times New Roman" panose="02020603050405020304" pitchFamily="18" charset="0"/>
                <a:cs typeface="Times New Roman" panose="02020603050405020304" pitchFamily="18" charset="0"/>
              </a:rPr>
              <a:t> </a:t>
            </a:r>
            <a:r>
              <a:rPr lang="en-US" sz="5100" dirty="0">
                <a:latin typeface="Times New Roman" panose="02020603050405020304" pitchFamily="18" charset="0"/>
                <a:cs typeface="Times New Roman" panose="02020603050405020304" pitchFamily="18" charset="0"/>
              </a:rPr>
              <a:t>to approve structural designs for public infrastructure like bridges or highways. Without this certification, they are not legally allowed to sign off on critical design documents submitted to government authorities for construction approval.</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3195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000" y="574040"/>
            <a:ext cx="8727440" cy="5247640"/>
          </a:xfrm>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5. Teamwork and Communication:</a:t>
            </a:r>
          </a:p>
          <a:p>
            <a:pPr marL="0" indent="0" algn="just">
              <a:buNone/>
            </a:pPr>
            <a:r>
              <a:rPr lang="en-US" sz="2800" dirty="0">
                <a:latin typeface="Times New Roman" panose="02020603050405020304" pitchFamily="18" charset="0"/>
                <a:cs typeface="Times New Roman" panose="02020603050405020304" pitchFamily="18" charset="0"/>
              </a:rPr>
              <a:t>Engineers often work in </a:t>
            </a:r>
            <a:r>
              <a:rPr lang="en-US" sz="2800" b="1" dirty="0">
                <a:solidFill>
                  <a:srgbClr val="FF0000"/>
                </a:solidFill>
                <a:latin typeface="Times New Roman" panose="02020603050405020304" pitchFamily="18" charset="0"/>
                <a:cs typeface="Times New Roman" panose="02020603050405020304" pitchFamily="18" charset="0"/>
              </a:rPr>
              <a:t>multidisciplinary teams</a:t>
            </a:r>
            <a:r>
              <a:rPr lang="en-US" sz="2800" dirty="0">
                <a:latin typeface="Times New Roman" panose="02020603050405020304" pitchFamily="18" charset="0"/>
                <a:cs typeface="Times New Roman" panose="02020603050405020304" pitchFamily="18" charset="0"/>
              </a:rPr>
              <a:t>, collaborating with architects, doctors, software developers, government bodies, and clients. Good communication and teamwork are essential to translate ideas into reality.</a:t>
            </a:r>
          </a:p>
          <a:p>
            <a:pPr marL="0" indent="0" algn="just">
              <a:buNone/>
            </a:pPr>
            <a:endParaRPr lang="en-US" sz="2800" b="1" dirty="0">
              <a:latin typeface="Times New Roman" panose="02020603050405020304" pitchFamily="18" charset="0"/>
              <a:cs typeface="Times New Roman" panose="02020603050405020304" pitchFamily="18" charset="0"/>
            </a:endParaRPr>
          </a:p>
          <a:p>
            <a:pPr marL="0" indent="0" algn="just">
              <a:buNone/>
            </a:pPr>
            <a:endParaRPr lang="en-US" sz="2800" b="1"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Example: A biomedical engineer works with surgeons to design a custom knee implant and explains the design choices in clear, simple terms.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0434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4960" y="655320"/>
            <a:ext cx="8229600" cy="5318760"/>
          </a:xfrm>
        </p:spPr>
        <p:txBody>
          <a:bodyPr/>
          <a:lstStyle/>
          <a:p>
            <a:pPr marL="0" indent="0">
              <a:buNone/>
            </a:pPr>
            <a:r>
              <a:rPr lang="en-US" b="1" dirty="0">
                <a:latin typeface="Times New Roman" panose="02020603050405020304" pitchFamily="18" charset="0"/>
                <a:cs typeface="Times New Roman" panose="02020603050405020304" pitchFamily="18" charset="0"/>
              </a:rPr>
              <a:t>6. Lifelong Learning and Innovation:</a:t>
            </a:r>
          </a:p>
          <a:p>
            <a:pPr marL="0" indent="0" algn="just">
              <a:buNone/>
            </a:pPr>
            <a:r>
              <a:rPr lang="en-US" sz="2800" dirty="0">
                <a:latin typeface="Times New Roman" panose="02020603050405020304" pitchFamily="18" charset="0"/>
                <a:cs typeface="Times New Roman" panose="02020603050405020304" pitchFamily="18" charset="0"/>
              </a:rPr>
              <a:t>Technology and industry needs are constantly evolving. A professional engineer must continuously upgrade skills, learn about new tools, software, materials, and methods.</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Example: An electrical engineer learns about AI and IoT to implement smart energy grids in urban planning.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9926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0" y="350520"/>
            <a:ext cx="8656320" cy="6263640"/>
          </a:xfrm>
        </p:spPr>
        <p:txBody>
          <a:bodyPr>
            <a:normAutofit/>
          </a:bodyPr>
          <a:lstStyle/>
          <a:p>
            <a:pPr marL="0" indent="0" algn="ctr">
              <a:buNone/>
            </a:pPr>
            <a:r>
              <a:rPr lang="en-US" sz="4000" b="1" dirty="0">
                <a:solidFill>
                  <a:schemeClr val="accent1"/>
                </a:solidFill>
                <a:latin typeface="Times New Roman" panose="02020603050405020304" pitchFamily="18" charset="0"/>
                <a:cs typeface="Times New Roman" panose="02020603050405020304" pitchFamily="18" charset="0"/>
              </a:rPr>
              <a:t>Real-World Examples:</a:t>
            </a: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civil engineer</a:t>
            </a:r>
            <a:r>
              <a:rPr lang="en-US" sz="2800" dirty="0">
                <a:latin typeface="Times New Roman" panose="02020603050405020304" pitchFamily="18" charset="0"/>
                <a:cs typeface="Times New Roman" panose="02020603050405020304" pitchFamily="18" charset="0"/>
              </a:rPr>
              <a:t> oversees the construction of a flyover, ensuring it’s strong enough to handle traffic loads and seismic forces.</a:t>
            </a: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software engineer</a:t>
            </a:r>
            <a:r>
              <a:rPr lang="en-US" sz="2800" dirty="0">
                <a:latin typeface="Times New Roman" panose="02020603050405020304" pitchFamily="18" charset="0"/>
                <a:cs typeface="Times New Roman" panose="02020603050405020304" pitchFamily="18" charset="0"/>
              </a:rPr>
              <a:t> develops secure banking applications used by millions of people.</a:t>
            </a: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chemical engineer</a:t>
            </a:r>
            <a:r>
              <a:rPr lang="en-US" sz="2800" dirty="0">
                <a:latin typeface="Times New Roman" panose="02020603050405020304" pitchFamily="18" charset="0"/>
                <a:cs typeface="Times New Roman" panose="02020603050405020304" pitchFamily="18" charset="0"/>
              </a:rPr>
              <a:t> in a pharmaceutical plant ensures that medicines are produced under safe and controlled conditions.</a:t>
            </a: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renewable energy engineer</a:t>
            </a:r>
            <a:r>
              <a:rPr lang="en-US" sz="2800" dirty="0">
                <a:latin typeface="Times New Roman" panose="02020603050405020304" pitchFamily="18" charset="0"/>
                <a:cs typeface="Times New Roman" panose="02020603050405020304" pitchFamily="18" charset="0"/>
              </a:rPr>
              <a:t> designs and installs solar power systems to promote sustainability.</a:t>
            </a:r>
          </a:p>
          <a:p>
            <a:endParaRPr lang="en-IN" dirty="0"/>
          </a:p>
        </p:txBody>
      </p:sp>
    </p:spTree>
    <p:extLst>
      <p:ext uri="{BB962C8B-B14F-4D97-AF65-F5344CB8AC3E}">
        <p14:creationId xmlns:p14="http://schemas.microsoft.com/office/powerpoint/2010/main" val="689338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9602"/>
          </a:xfrm>
        </p:spPr>
        <p:txBody>
          <a:bodyPr>
            <a:normAutofit fontScale="90000"/>
          </a:bodyPr>
          <a:lstStyle/>
          <a:p>
            <a:r>
              <a:rPr lang="en-IN" b="1" dirty="0">
                <a:solidFill>
                  <a:schemeClr val="accent1"/>
                </a:solidFill>
              </a:rPr>
              <a:t>Comparison</a:t>
            </a:r>
          </a:p>
        </p:txBody>
      </p:sp>
      <p:graphicFrame>
        <p:nvGraphicFramePr>
          <p:cNvPr id="4" name="Table 3"/>
          <p:cNvGraphicFramePr>
            <a:graphicFrameLocks noGrp="1"/>
          </p:cNvGraphicFramePr>
          <p:nvPr>
            <p:extLst>
              <p:ext uri="{D42A27DB-BD31-4B8C-83A1-F6EECF244321}">
                <p14:modId xmlns:p14="http://schemas.microsoft.com/office/powerpoint/2010/main" val="830204054"/>
              </p:ext>
            </p:extLst>
          </p:nvPr>
        </p:nvGraphicFramePr>
        <p:xfrm>
          <a:off x="548640" y="1183640"/>
          <a:ext cx="8209281" cy="5015992"/>
        </p:xfrm>
        <a:graphic>
          <a:graphicData uri="http://schemas.openxmlformats.org/drawingml/2006/table">
            <a:tbl>
              <a:tblPr firstRow="1" bandRow="1">
                <a:tableStyleId>{5C22544A-7EE6-4342-B048-85BDC9FD1C3A}</a:tableStyleId>
              </a:tblPr>
              <a:tblGrid>
                <a:gridCol w="2736427">
                  <a:extLst>
                    <a:ext uri="{9D8B030D-6E8A-4147-A177-3AD203B41FA5}">
                      <a16:colId xmlns:a16="http://schemas.microsoft.com/office/drawing/2014/main" val="3924708384"/>
                    </a:ext>
                  </a:extLst>
                </a:gridCol>
                <a:gridCol w="2736427">
                  <a:extLst>
                    <a:ext uri="{9D8B030D-6E8A-4147-A177-3AD203B41FA5}">
                      <a16:colId xmlns:a16="http://schemas.microsoft.com/office/drawing/2014/main" val="4202712891"/>
                    </a:ext>
                  </a:extLst>
                </a:gridCol>
                <a:gridCol w="2736427">
                  <a:extLst>
                    <a:ext uri="{9D8B030D-6E8A-4147-A177-3AD203B41FA5}">
                      <a16:colId xmlns:a16="http://schemas.microsoft.com/office/drawing/2014/main" val="3851118191"/>
                    </a:ext>
                  </a:extLst>
                </a:gridCol>
              </a:tblGrid>
              <a:tr h="65532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Aspect </a:t>
                      </a:r>
                    </a:p>
                  </a:txBody>
                  <a:tcPr>
                    <a:noFill/>
                  </a:tcPr>
                </a:tc>
                <a:tc>
                  <a:txBody>
                    <a:bodyPr/>
                    <a:lstStyle/>
                    <a:p>
                      <a:pPr algn="ctr"/>
                      <a:r>
                        <a:rPr lang="en-US" sz="1800" dirty="0">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Engineering as Discipline</a:t>
                      </a:r>
                      <a:endParaRPr lang="en-IN" sz="1800" dirty="0">
                        <a:solidFill>
                          <a:schemeClr val="tx1"/>
                        </a:solidFill>
                        <a:latin typeface="Times New Roman" panose="02020603050405020304" pitchFamily="18" charset="0"/>
                        <a:cs typeface="Times New Roman" panose="02020603050405020304" pitchFamily="18" charset="0"/>
                      </a:endParaRPr>
                    </a:p>
                  </a:txBody>
                  <a:tcP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latin typeface="Times New Roman" panose="02020603050405020304" pitchFamily="18" charset="0"/>
                          <a:ea typeface="+mn-ea"/>
                          <a:cs typeface="Times New Roman" panose="02020603050405020304" pitchFamily="18" charset="0"/>
                        </a:rPr>
                        <a:t>Engineering as Profession</a:t>
                      </a:r>
                      <a:endParaRPr lang="en-IN" sz="1800" b="1" kern="1200" dirty="0">
                        <a:solidFill>
                          <a:schemeClr val="tx1"/>
                        </a:solidFill>
                        <a:latin typeface="Times New Roman" panose="02020603050405020304" pitchFamily="18" charset="0"/>
                        <a:ea typeface="+mn-ea"/>
                        <a:cs typeface="Times New Roman" panose="02020603050405020304" pitchFamily="18" charset="0"/>
                      </a:endParaRPr>
                    </a:p>
                    <a:p>
                      <a:endParaRPr lang="en-IN" sz="1800" b="1" kern="1200" dirty="0">
                        <a:solidFill>
                          <a:schemeClr val="lt1"/>
                        </a:solidFill>
                        <a:latin typeface="Times New Roman" panose="02020603050405020304" pitchFamily="18" charset="0"/>
                        <a:ea typeface="+mn-ea"/>
                        <a:cs typeface="Times New Roman" panose="02020603050405020304" pitchFamily="18" charset="0"/>
                      </a:endParaRPr>
                    </a:p>
                  </a:txBody>
                  <a:tcPr>
                    <a:noFill/>
                  </a:tcPr>
                </a:tc>
                <a:extLst>
                  <a:ext uri="{0D108BD9-81ED-4DB2-BD59-A6C34878D82A}">
                    <a16:rowId xmlns:a16="http://schemas.microsoft.com/office/drawing/2014/main" val="2331233384"/>
                  </a:ext>
                </a:extLst>
              </a:tr>
              <a:tr h="1090168">
                <a:tc>
                  <a:txBody>
                    <a:bodyPr/>
                    <a:lstStyle/>
                    <a:p>
                      <a:pPr algn="ctr"/>
                      <a:r>
                        <a:rPr lang="en-US" sz="1800" dirty="0">
                          <a:latin typeface="Times New Roman" panose="02020603050405020304" pitchFamily="18" charset="0"/>
                          <a:cs typeface="Times New Roman" panose="02020603050405020304" pitchFamily="18" charset="0"/>
                        </a:rPr>
                        <a:t>Focus and Practice</a:t>
                      </a:r>
                      <a:endParaRPr lang="en-IN" sz="1800" dirty="0">
                        <a:latin typeface="Times New Roman" panose="02020603050405020304" pitchFamily="18" charset="0"/>
                        <a:cs typeface="Times New Roman" panose="02020603050405020304" pitchFamily="18" charset="0"/>
                      </a:endParaRPr>
                    </a:p>
                  </a:txBody>
                  <a:tcPr>
                    <a:noFill/>
                  </a:tcPr>
                </a:tc>
                <a:tc>
                  <a:txBody>
                    <a:bodyPr/>
                    <a:lstStyle/>
                    <a:p>
                      <a:pPr algn="ctr"/>
                      <a:r>
                        <a:rPr lang="en-US" sz="1800" dirty="0">
                          <a:latin typeface="Times New Roman" panose="02020603050405020304" pitchFamily="18" charset="0"/>
                          <a:cs typeface="Times New Roman" panose="02020603050405020304" pitchFamily="18" charset="0"/>
                        </a:rPr>
                        <a:t>Generation of Knowledge, theories,</a:t>
                      </a:r>
                      <a:r>
                        <a:rPr lang="en-US" sz="1800" baseline="0" dirty="0">
                          <a:latin typeface="Times New Roman" panose="02020603050405020304" pitchFamily="18" charset="0"/>
                          <a:cs typeface="Times New Roman" panose="02020603050405020304" pitchFamily="18" charset="0"/>
                        </a:rPr>
                        <a:t> innovation</a:t>
                      </a:r>
                      <a:r>
                        <a:rPr lang="en-US" sz="1800" dirty="0">
                          <a:latin typeface="Times New Roman" panose="02020603050405020304" pitchFamily="18" charset="0"/>
                          <a:cs typeface="Times New Roman" panose="02020603050405020304" pitchFamily="18" charset="0"/>
                        </a:rPr>
                        <a:t>  and Research</a:t>
                      </a:r>
                      <a:endParaRPr lang="en-IN" sz="1800" dirty="0">
                        <a:latin typeface="Times New Roman" panose="02020603050405020304" pitchFamily="18" charset="0"/>
                        <a:cs typeface="Times New Roman" panose="02020603050405020304" pitchFamily="18" charset="0"/>
                      </a:endParaRPr>
                    </a:p>
                  </a:txBody>
                  <a:tcPr>
                    <a:noFill/>
                  </a:tcPr>
                </a:tc>
                <a:tc>
                  <a:txBody>
                    <a:bodyPr/>
                    <a:lstStyle/>
                    <a:p>
                      <a:pPr algn="ctr"/>
                      <a:r>
                        <a:rPr lang="en-US" sz="1800" kern="1200" dirty="0">
                          <a:solidFill>
                            <a:schemeClr val="dk1"/>
                          </a:solidFill>
                          <a:latin typeface="Times New Roman" panose="02020603050405020304" pitchFamily="18" charset="0"/>
                          <a:ea typeface="+mn-ea"/>
                          <a:cs typeface="Times New Roman" panose="02020603050405020304" pitchFamily="18" charset="0"/>
                        </a:rPr>
                        <a:t>Practical application of knowledge to solve real-world problems</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noFill/>
                  </a:tcPr>
                </a:tc>
                <a:extLst>
                  <a:ext uri="{0D108BD9-81ED-4DB2-BD59-A6C34878D82A}">
                    <a16:rowId xmlns:a16="http://schemas.microsoft.com/office/drawing/2014/main" val="3127997598"/>
                  </a:ext>
                </a:extLst>
              </a:tr>
              <a:tr h="1090168">
                <a:tc>
                  <a:txBody>
                    <a:bodyPr/>
                    <a:lstStyle/>
                    <a:p>
                      <a:pPr algn="ctr"/>
                      <a:r>
                        <a:rPr lang="en-US" sz="1800" kern="1200" dirty="0">
                          <a:solidFill>
                            <a:schemeClr val="dk1"/>
                          </a:solidFill>
                          <a:latin typeface="Times New Roman" panose="02020603050405020304" pitchFamily="18" charset="0"/>
                          <a:ea typeface="+mn-ea"/>
                          <a:cs typeface="Times New Roman" panose="02020603050405020304" pitchFamily="18" charset="0"/>
                        </a:rPr>
                        <a:t>        Setting </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noFill/>
                  </a:tcPr>
                </a:tc>
                <a:tc>
                  <a:txBody>
                    <a:bodyPr/>
                    <a:lstStyle/>
                    <a:p>
                      <a:pPr marL="0" algn="ctr" defTabSz="4572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Academic institutions, research labs, universities</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noFill/>
                  </a:tcPr>
                </a:tc>
                <a:tc>
                  <a:txBody>
                    <a:bodyPr/>
                    <a:lstStyle/>
                    <a:p>
                      <a:pPr marL="0" algn="ctr" defTabSz="4572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Industries, corporate sectors, consultancy, government agencies</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noFill/>
                  </a:tcPr>
                </a:tc>
                <a:extLst>
                  <a:ext uri="{0D108BD9-81ED-4DB2-BD59-A6C34878D82A}">
                    <a16:rowId xmlns:a16="http://schemas.microsoft.com/office/drawing/2014/main" val="2687292704"/>
                  </a:ext>
                </a:extLst>
              </a:tr>
              <a:tr h="1090168">
                <a:tc>
                  <a:txBody>
                    <a:bodyPr/>
                    <a:lstStyle/>
                    <a:p>
                      <a:pPr algn="ctr"/>
                      <a:r>
                        <a:rPr lang="en-US" sz="1800" kern="1200" dirty="0">
                          <a:solidFill>
                            <a:schemeClr val="dk1"/>
                          </a:solidFill>
                          <a:latin typeface="Times New Roman" panose="02020603050405020304" pitchFamily="18" charset="0"/>
                          <a:ea typeface="+mn-ea"/>
                          <a:cs typeface="Times New Roman" panose="02020603050405020304" pitchFamily="18" charset="0"/>
                        </a:rPr>
                        <a:t>Output</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noFill/>
                  </a:tcPr>
                </a:tc>
                <a:tc>
                  <a:txBody>
                    <a:bodyPr/>
                    <a:lstStyle/>
                    <a:p>
                      <a:pPr algn="ctr"/>
                      <a:r>
                        <a:rPr lang="en-IN" sz="1800" kern="1200" dirty="0">
                          <a:solidFill>
                            <a:schemeClr val="dk1"/>
                          </a:solidFill>
                          <a:latin typeface="Times New Roman" panose="02020603050405020304" pitchFamily="18" charset="0"/>
                          <a:ea typeface="+mn-ea"/>
                          <a:cs typeface="Times New Roman" panose="02020603050405020304" pitchFamily="18" charset="0"/>
                        </a:rPr>
                        <a:t>Scientific theories, experimental results, conceptual designs</a:t>
                      </a:r>
                    </a:p>
                  </a:txBody>
                  <a:tcPr>
                    <a:noFill/>
                  </a:tcPr>
                </a:tc>
                <a:tc>
                  <a:txBody>
                    <a:bodyPr/>
                    <a:lstStyle/>
                    <a:p>
                      <a:pPr algn="ctr"/>
                      <a:r>
                        <a:rPr lang="en-IN" sz="1800" kern="1200" dirty="0">
                          <a:solidFill>
                            <a:schemeClr val="dk1"/>
                          </a:solidFill>
                          <a:latin typeface="Times New Roman" panose="02020603050405020304" pitchFamily="18" charset="0"/>
                          <a:ea typeface="+mn-ea"/>
                          <a:cs typeface="Times New Roman" panose="02020603050405020304" pitchFamily="18" charset="0"/>
                        </a:rPr>
                        <a:t>Functional products, infrastructure, processes, services</a:t>
                      </a:r>
                    </a:p>
                  </a:txBody>
                  <a:tcPr>
                    <a:noFill/>
                  </a:tcPr>
                </a:tc>
                <a:extLst>
                  <a:ext uri="{0D108BD9-81ED-4DB2-BD59-A6C34878D82A}">
                    <a16:rowId xmlns:a16="http://schemas.microsoft.com/office/drawing/2014/main" val="3926977831"/>
                  </a:ext>
                </a:extLst>
              </a:tr>
              <a:tr h="1090168">
                <a:tc>
                  <a:txBody>
                    <a:bodyPr/>
                    <a:lstStyle/>
                    <a:p>
                      <a:pPr marL="0" algn="ctr" defTabSz="457200" rtl="0" eaLnBrk="1" latinLnBrk="0" hangingPunct="1"/>
                      <a:r>
                        <a:rPr lang="en-IN" sz="1800" kern="1200" dirty="0">
                          <a:solidFill>
                            <a:schemeClr val="dk1"/>
                          </a:solidFill>
                          <a:latin typeface="Times New Roman" panose="02020603050405020304" pitchFamily="18" charset="0"/>
                          <a:ea typeface="+mn-ea"/>
                          <a:cs typeface="Times New Roman" panose="02020603050405020304" pitchFamily="18" charset="0"/>
                        </a:rPr>
                        <a:t>Goal</a:t>
                      </a:r>
                    </a:p>
                  </a:txBody>
                  <a:tcPr>
                    <a:noFill/>
                  </a:tcPr>
                </a:tc>
                <a:tc>
                  <a:txBody>
                    <a:bodyPr/>
                    <a:lstStyle/>
                    <a:p>
                      <a:pPr marL="0" algn="ctr" defTabSz="4572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Advance the frontiers of science and technology</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noFill/>
                  </a:tcPr>
                </a:tc>
                <a:tc>
                  <a:txBody>
                    <a:bodyPr/>
                    <a:lstStyle/>
                    <a:p>
                      <a:pPr marL="0" algn="ctr" defTabSz="4572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Ensure safety, efficiency, and service to society</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noFill/>
                  </a:tcPr>
                </a:tc>
                <a:extLst>
                  <a:ext uri="{0D108BD9-81ED-4DB2-BD59-A6C34878D82A}">
                    <a16:rowId xmlns:a16="http://schemas.microsoft.com/office/drawing/2014/main" val="4060399741"/>
                  </a:ext>
                </a:extLst>
              </a:tr>
            </a:tbl>
          </a:graphicData>
        </a:graphic>
      </p:graphicFrame>
    </p:spTree>
    <p:extLst>
      <p:ext uri="{BB962C8B-B14F-4D97-AF65-F5344CB8AC3E}">
        <p14:creationId xmlns:p14="http://schemas.microsoft.com/office/powerpoint/2010/main" val="1888536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b="1" dirty="0">
                <a:solidFill>
                  <a:srgbClr val="0070C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457200" y="1224280"/>
            <a:ext cx="8229600" cy="4525963"/>
          </a:xfrm>
        </p:spPr>
        <p:txBody>
          <a:bodyPr>
            <a:normAutofit/>
          </a:bodyPr>
          <a:lstStyle/>
          <a:p>
            <a:pPr algn="just"/>
            <a:r>
              <a:rPr sz="2800" dirty="0">
                <a:latin typeface="Times New Roman" panose="02020603050405020304" pitchFamily="18" charset="0"/>
                <a:cs typeface="Times New Roman" panose="02020603050405020304" pitchFamily="18" charset="0"/>
              </a:rPr>
              <a:t>Engineering bridges theory and practice</a:t>
            </a:r>
          </a:p>
          <a:p>
            <a:pPr algn="just"/>
            <a:r>
              <a:rPr sz="2800" dirty="0">
                <a:latin typeface="Times New Roman" panose="02020603050405020304" pitchFamily="18" charset="0"/>
                <a:cs typeface="Times New Roman" panose="02020603050405020304" pitchFamily="18" charset="0"/>
              </a:rPr>
              <a:t>A discipline grounded in science and a profession rooted in service</a:t>
            </a:r>
          </a:p>
          <a:p>
            <a:pPr algn="just"/>
            <a:r>
              <a:rPr sz="2800" dirty="0">
                <a:latin typeface="Times New Roman" panose="02020603050405020304" pitchFamily="18" charset="0"/>
                <a:cs typeface="Times New Roman" panose="02020603050405020304" pitchFamily="18" charset="0"/>
              </a:rPr>
              <a:t>Engineers shape the future through responsible innovation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F88C-40A2-B42E-D34D-9E16E9E73A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B5536-4D03-F7AF-B9D0-35A266875392}"/>
              </a:ext>
            </a:extLst>
          </p:cNvPr>
          <p:cNvSpPr>
            <a:spLocks noGrp="1"/>
          </p:cNvSpPr>
          <p:nvPr>
            <p:ph type="title"/>
          </p:nvPr>
        </p:nvSpPr>
        <p:spPr>
          <a:xfrm>
            <a:off x="457200" y="274638"/>
            <a:ext cx="8229600" cy="629602"/>
          </a:xfrm>
        </p:spPr>
        <p:txBody>
          <a:bodyPr>
            <a:normAutofit fontScale="90000"/>
          </a:bodyPr>
          <a:lstStyle/>
          <a:p>
            <a:r>
              <a:rPr lang="en-IN" b="1" dirty="0">
                <a:solidFill>
                  <a:schemeClr val="accent1"/>
                </a:solidFill>
              </a:rPr>
              <a:t>Comparison</a:t>
            </a:r>
          </a:p>
        </p:txBody>
      </p:sp>
      <p:graphicFrame>
        <p:nvGraphicFramePr>
          <p:cNvPr id="4" name="Table 3">
            <a:extLst>
              <a:ext uri="{FF2B5EF4-FFF2-40B4-BE49-F238E27FC236}">
                <a16:creationId xmlns:a16="http://schemas.microsoft.com/office/drawing/2014/main" id="{2BE5AB2B-DF5B-FBF6-E0A0-4BC3C558B7FC}"/>
              </a:ext>
            </a:extLst>
          </p:cNvPr>
          <p:cNvGraphicFramePr>
            <a:graphicFrameLocks noGrp="1"/>
          </p:cNvGraphicFramePr>
          <p:nvPr/>
        </p:nvGraphicFramePr>
        <p:xfrm>
          <a:off x="548640" y="1183640"/>
          <a:ext cx="8209281" cy="5015992"/>
        </p:xfrm>
        <a:graphic>
          <a:graphicData uri="http://schemas.openxmlformats.org/drawingml/2006/table">
            <a:tbl>
              <a:tblPr firstRow="1" bandRow="1">
                <a:tableStyleId>{5C22544A-7EE6-4342-B048-85BDC9FD1C3A}</a:tableStyleId>
              </a:tblPr>
              <a:tblGrid>
                <a:gridCol w="2736427">
                  <a:extLst>
                    <a:ext uri="{9D8B030D-6E8A-4147-A177-3AD203B41FA5}">
                      <a16:colId xmlns:a16="http://schemas.microsoft.com/office/drawing/2014/main" val="3924708384"/>
                    </a:ext>
                  </a:extLst>
                </a:gridCol>
                <a:gridCol w="2736427">
                  <a:extLst>
                    <a:ext uri="{9D8B030D-6E8A-4147-A177-3AD203B41FA5}">
                      <a16:colId xmlns:a16="http://schemas.microsoft.com/office/drawing/2014/main" val="4202712891"/>
                    </a:ext>
                  </a:extLst>
                </a:gridCol>
                <a:gridCol w="2736427">
                  <a:extLst>
                    <a:ext uri="{9D8B030D-6E8A-4147-A177-3AD203B41FA5}">
                      <a16:colId xmlns:a16="http://schemas.microsoft.com/office/drawing/2014/main" val="3851118191"/>
                    </a:ext>
                  </a:extLst>
                </a:gridCol>
              </a:tblGrid>
              <a:tr h="65532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Aspect </a:t>
                      </a:r>
                    </a:p>
                  </a:txBody>
                  <a:tcPr/>
                </a:tc>
                <a:tc>
                  <a:txBody>
                    <a:bodyPr/>
                    <a:lstStyle/>
                    <a:p>
                      <a:pPr algn="ctr"/>
                      <a:r>
                        <a:rPr lang="en-US" sz="1800" dirty="0">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Engineering as Discipline</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latin typeface="Times New Roman" panose="02020603050405020304" pitchFamily="18" charset="0"/>
                          <a:ea typeface="+mn-ea"/>
                          <a:cs typeface="Times New Roman" panose="02020603050405020304" pitchFamily="18" charset="0"/>
                        </a:rPr>
                        <a:t>Engineering as Profession</a:t>
                      </a:r>
                      <a:endParaRPr lang="en-IN" sz="1800" b="1" kern="1200" dirty="0">
                        <a:solidFill>
                          <a:schemeClr val="tx1"/>
                        </a:solidFill>
                        <a:latin typeface="Times New Roman" panose="02020603050405020304" pitchFamily="18" charset="0"/>
                        <a:ea typeface="+mn-ea"/>
                        <a:cs typeface="Times New Roman" panose="02020603050405020304" pitchFamily="18" charset="0"/>
                      </a:endParaRPr>
                    </a:p>
                    <a:p>
                      <a:endParaRPr lang="en-IN" sz="1800" b="1" kern="1200" dirty="0">
                        <a:solidFill>
                          <a:schemeClr val="lt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331233384"/>
                  </a:ext>
                </a:extLst>
              </a:tr>
              <a:tr h="1090168">
                <a:tc>
                  <a:txBody>
                    <a:bodyPr/>
                    <a:lstStyle/>
                    <a:p>
                      <a:pPr algn="ctr"/>
                      <a:r>
                        <a:rPr lang="en-US" sz="1800" dirty="0">
                          <a:latin typeface="Times New Roman" panose="02020603050405020304" pitchFamily="18" charset="0"/>
                          <a:cs typeface="Times New Roman" panose="02020603050405020304" pitchFamily="18" charset="0"/>
                        </a:rPr>
                        <a:t>Focus and Practice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Generation of Knowledge, theories,</a:t>
                      </a:r>
                      <a:r>
                        <a:rPr lang="en-US" sz="1800" baseline="0" dirty="0">
                          <a:latin typeface="Times New Roman" panose="02020603050405020304" pitchFamily="18" charset="0"/>
                          <a:cs typeface="Times New Roman" panose="02020603050405020304" pitchFamily="18" charset="0"/>
                        </a:rPr>
                        <a:t> innovation</a:t>
                      </a:r>
                      <a:r>
                        <a:rPr lang="en-US" sz="1800" dirty="0">
                          <a:latin typeface="Times New Roman" panose="02020603050405020304" pitchFamily="18" charset="0"/>
                          <a:cs typeface="Times New Roman" panose="02020603050405020304" pitchFamily="18" charset="0"/>
                        </a:rPr>
                        <a:t>  and Research</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latin typeface="Times New Roman" panose="02020603050405020304" pitchFamily="18" charset="0"/>
                          <a:ea typeface="+mn-ea"/>
                          <a:cs typeface="Times New Roman" panose="02020603050405020304" pitchFamily="18" charset="0"/>
                        </a:rPr>
                        <a:t>Practical application of knowledge to solve real-world problems</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127997598"/>
                  </a:ext>
                </a:extLst>
              </a:tr>
              <a:tr h="1090168">
                <a:tc>
                  <a:txBody>
                    <a:bodyPr/>
                    <a:lstStyle/>
                    <a:p>
                      <a:pPr algn="ctr"/>
                      <a:r>
                        <a:rPr lang="en-US" sz="1800" kern="1200" dirty="0">
                          <a:solidFill>
                            <a:schemeClr val="dk1"/>
                          </a:solidFill>
                          <a:latin typeface="Times New Roman" panose="02020603050405020304" pitchFamily="18" charset="0"/>
                          <a:ea typeface="+mn-ea"/>
                          <a:cs typeface="Times New Roman" panose="02020603050405020304" pitchFamily="18" charset="0"/>
                        </a:rPr>
                        <a:t>        Setting </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Academic institutions, research labs, universities</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Industries, corporate sectors, consultancy, government agencies</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687292704"/>
                  </a:ext>
                </a:extLst>
              </a:tr>
              <a:tr h="1090168">
                <a:tc>
                  <a:txBody>
                    <a:bodyPr/>
                    <a:lstStyle/>
                    <a:p>
                      <a:pPr algn="ctr"/>
                      <a:r>
                        <a:rPr lang="en-US" sz="1800" kern="1200" dirty="0">
                          <a:solidFill>
                            <a:schemeClr val="dk1"/>
                          </a:solidFill>
                          <a:latin typeface="Times New Roman" panose="02020603050405020304" pitchFamily="18" charset="0"/>
                          <a:ea typeface="+mn-ea"/>
                          <a:cs typeface="Times New Roman" panose="02020603050405020304" pitchFamily="18" charset="0"/>
                        </a:rPr>
                        <a:t>Output</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IN" sz="1800" kern="1200" dirty="0">
                          <a:solidFill>
                            <a:schemeClr val="dk1"/>
                          </a:solidFill>
                          <a:latin typeface="Times New Roman" panose="02020603050405020304" pitchFamily="18" charset="0"/>
                          <a:ea typeface="+mn-ea"/>
                          <a:cs typeface="Times New Roman" panose="02020603050405020304" pitchFamily="18" charset="0"/>
                        </a:rPr>
                        <a:t>Scientific theories, experimental results, conceptual designs</a:t>
                      </a:r>
                    </a:p>
                  </a:txBody>
                  <a:tcPr/>
                </a:tc>
                <a:tc>
                  <a:txBody>
                    <a:bodyPr/>
                    <a:lstStyle/>
                    <a:p>
                      <a:pPr algn="ctr"/>
                      <a:r>
                        <a:rPr lang="en-IN" sz="1800" kern="1200" dirty="0">
                          <a:solidFill>
                            <a:schemeClr val="dk1"/>
                          </a:solidFill>
                          <a:latin typeface="Times New Roman" panose="02020603050405020304" pitchFamily="18" charset="0"/>
                          <a:ea typeface="+mn-ea"/>
                          <a:cs typeface="Times New Roman" panose="02020603050405020304" pitchFamily="18" charset="0"/>
                        </a:rPr>
                        <a:t>Functional products, infrastructure, processes, services</a:t>
                      </a:r>
                    </a:p>
                  </a:txBody>
                  <a:tcPr/>
                </a:tc>
                <a:extLst>
                  <a:ext uri="{0D108BD9-81ED-4DB2-BD59-A6C34878D82A}">
                    <a16:rowId xmlns:a16="http://schemas.microsoft.com/office/drawing/2014/main" val="3926977831"/>
                  </a:ext>
                </a:extLst>
              </a:tr>
              <a:tr h="1090168">
                <a:tc>
                  <a:txBody>
                    <a:bodyPr/>
                    <a:lstStyle/>
                    <a:p>
                      <a:pPr marL="0" algn="ctr" defTabSz="457200" rtl="0" eaLnBrk="1" latinLnBrk="0" hangingPunct="1"/>
                      <a:r>
                        <a:rPr lang="en-IN" sz="1800" kern="1200" dirty="0">
                          <a:solidFill>
                            <a:schemeClr val="dk1"/>
                          </a:solidFill>
                          <a:latin typeface="Times New Roman" panose="02020603050405020304" pitchFamily="18" charset="0"/>
                          <a:ea typeface="+mn-ea"/>
                          <a:cs typeface="Times New Roman" panose="02020603050405020304" pitchFamily="18" charset="0"/>
                        </a:rPr>
                        <a:t>Goal</a:t>
                      </a:r>
                    </a:p>
                  </a:txBody>
                  <a:tcPr/>
                </a:tc>
                <a:tc>
                  <a:txBody>
                    <a:bodyPr/>
                    <a:lstStyle/>
                    <a:p>
                      <a:pPr marL="0" algn="ctr" defTabSz="4572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Advance the frontiers of science and technology</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800" kern="1200" dirty="0">
                          <a:solidFill>
                            <a:schemeClr val="dk1"/>
                          </a:solidFill>
                          <a:latin typeface="Times New Roman" panose="02020603050405020304" pitchFamily="18" charset="0"/>
                          <a:ea typeface="+mn-ea"/>
                          <a:cs typeface="Times New Roman" panose="02020603050405020304" pitchFamily="18" charset="0"/>
                        </a:rPr>
                        <a:t>Ensure safety, efficiency, and service to society</a:t>
                      </a:r>
                      <a:endParaRPr lang="en-IN"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4060399741"/>
                  </a:ext>
                </a:extLst>
              </a:tr>
            </a:tbl>
          </a:graphicData>
        </a:graphic>
      </p:graphicFrame>
    </p:spTree>
    <p:extLst>
      <p:ext uri="{BB962C8B-B14F-4D97-AF65-F5344CB8AC3E}">
        <p14:creationId xmlns:p14="http://schemas.microsoft.com/office/powerpoint/2010/main" val="4136287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907</TotalTime>
  <Words>1330</Words>
  <Application>Microsoft Office PowerPoint</Application>
  <PresentationFormat>On-screen Show (4:3)</PresentationFormat>
  <Paragraphs>134</Paragraphs>
  <Slides>29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MODULE I</vt:lpstr>
      <vt:lpstr>Content</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Engineering as a Discipline</vt:lpstr>
      <vt:lpstr>Characteristics of Engineering Discipline</vt:lpstr>
      <vt:lpstr>Key Components of Engineering as a Discipline</vt:lpstr>
      <vt:lpstr>PowerPoint Presentation</vt:lpstr>
      <vt:lpstr>PowerPoint Presentation</vt:lpstr>
      <vt:lpstr>PowerPoint Presentation</vt:lpstr>
      <vt:lpstr>Engineering as a Profession</vt:lpstr>
      <vt:lpstr>Key Elements of Engineering as a Profession</vt:lpstr>
      <vt:lpstr>PowerPoint Presentation</vt:lpstr>
      <vt:lpstr>PowerPoint Presentation</vt:lpstr>
      <vt:lpstr>PowerPoint Presentation</vt:lpstr>
      <vt:lpstr>PowerPoint Presentation</vt:lpstr>
      <vt:lpstr>PowerPoint Presentation</vt:lpstr>
      <vt:lpstr>PowerPoint Presentation</vt:lpstr>
      <vt:lpstr>Comparison</vt:lpstr>
      <vt:lpstr>Conclusion</vt:lpstr>
      <vt:lpstr>Comparison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as a Discipline and as a Profession</dc:title>
  <dc:subject/>
  <dc:creator/>
  <cp:keywords/>
  <dc:description>generated using python-pptx</dc:description>
  <cp:lastModifiedBy>Pruthwiraj Sahu</cp:lastModifiedBy>
  <cp:revision>21</cp:revision>
  <dcterms:created xsi:type="dcterms:W3CDTF">2013-01-27T09:14:16Z</dcterms:created>
  <dcterms:modified xsi:type="dcterms:W3CDTF">2025-09-13T08:39:57Z</dcterms:modified>
  <cp:category/>
</cp:coreProperties>
</file>