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0" r:id="rId4"/>
    <p:sldId id="258" r:id="rId5"/>
    <p:sldId id="271" r:id="rId6"/>
    <p:sldId id="272" r:id="rId7"/>
    <p:sldId id="260" r:id="rId8"/>
    <p:sldId id="274" r:id="rId9"/>
    <p:sldId id="262" r:id="rId10"/>
    <p:sldId id="277" r:id="rId11"/>
    <p:sldId id="264" r:id="rId12"/>
    <p:sldId id="278" r:id="rId13"/>
    <p:sldId id="266" r:id="rId14"/>
    <p:sldId id="275" r:id="rId15"/>
    <p:sldId id="276" r:id="rId16"/>
    <p:sldId id="279" r:id="rId17"/>
    <p:sldId id="28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9CA69-BC8B-4EF1-A84B-90B3E35F0497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22C6F-4A7F-44D6-8C6F-95FF75231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06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22C6F-4A7F-44D6-8C6F-95FF75231AC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010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Problem Complexity, Uncertainty, Risk, and Ambiguity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Dr. Bijaya Bijeta Nayak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4760"/>
            <a:ext cx="8229600" cy="538988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professionals frequently face challenges that are not straightforward. In the real world, problems are rarely well-defined; instead, they involve multiple variables, conflicting objectives, incomplete data, and external constraint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problems are often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uncertain, risky, and ambiguous.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 must learn to manage these aspects for effective decision-making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complexity, uncertainty, risk, and ambiguity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fundamental skill for modern engineers. Future-ready engineers must be equipped not only with technical knowledge but also with systems thinking, decision-making under uncertainty, and effective risk management capabilities.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CURA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432800" cy="49936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Understanding </a:t>
            </a:r>
            <a:r>
              <a:rPr lang="en-US" b="1" dirty="0"/>
              <a:t>Complexity, Uncertainty, Risk, and Ambiguity (CURA)</a:t>
            </a:r>
            <a:r>
              <a:rPr lang="en-US" dirty="0"/>
              <a:t> is crucial because it equips engineers with a </a:t>
            </a:r>
            <a:r>
              <a:rPr lang="en-US" b="1" dirty="0"/>
              <a:t>structured way of thinking</a:t>
            </a:r>
            <a:r>
              <a:rPr lang="en-US" dirty="0"/>
              <a:t>:</a:t>
            </a:r>
          </a:p>
          <a:p>
            <a:r>
              <a:rPr lang="en-US" b="1" dirty="0"/>
              <a:t>Complexity</a:t>
            </a:r>
            <a:r>
              <a:rPr lang="en-US" dirty="0"/>
              <a:t> → Helps recognize system interdependencies.</a:t>
            </a:r>
          </a:p>
          <a:p>
            <a:r>
              <a:rPr lang="en-US" b="1" dirty="0"/>
              <a:t>Uncertainty</a:t>
            </a:r>
            <a:r>
              <a:rPr lang="en-US" dirty="0"/>
              <a:t> → Prepares for unknowns and variability.</a:t>
            </a:r>
          </a:p>
          <a:p>
            <a:r>
              <a:rPr lang="en-US" b="1" dirty="0"/>
              <a:t>Risk</a:t>
            </a:r>
            <a:r>
              <a:rPr lang="en-US" dirty="0"/>
              <a:t> → Focuses attention on consequences and probabilities.</a:t>
            </a:r>
          </a:p>
          <a:p>
            <a:r>
              <a:rPr lang="en-US" b="1" dirty="0"/>
              <a:t>Ambiguity</a:t>
            </a:r>
            <a:r>
              <a:rPr lang="en-US" dirty="0"/>
              <a:t> → Encourages clear communication and problem framing.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981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Complexity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algn="just"/>
            <a:r>
              <a:rPr lang="en-US" dirty="0"/>
              <a:t>Complexity arises when a problem has many interconnected parts, variables, </a:t>
            </a:r>
            <a:r>
              <a:rPr lang="en-US" dirty="0" smtClean="0"/>
              <a:t>or subsystems</a:t>
            </a:r>
            <a:r>
              <a:rPr lang="en-US" dirty="0"/>
              <a:t>, where changes in one element affect others unpredictably.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Complex 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600" y="1552796"/>
            <a:ext cx="82296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interdependent variables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Non-linear cause-and-effect relationships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multidisciplinary knowledge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May lack a single “right” solution</a:t>
            </a:r>
          </a:p>
        </p:txBody>
      </p:sp>
    </p:spTree>
    <p:extLst>
      <p:ext uri="{BB962C8B-B14F-4D97-AF65-F5344CB8AC3E}">
        <p14:creationId xmlns:p14="http://schemas.microsoft.com/office/powerpoint/2010/main" val="367103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Approaches to Handle Complexity: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35280" y="1655976"/>
            <a:ext cx="859536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Systems Thinking: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interconnections between subsystems.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 and Simulation: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mathematical/AI models to represent systems.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Breaking complex problems into smaller, manageable parts.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Engaging experts from different domains.</a:t>
            </a:r>
          </a:p>
        </p:txBody>
      </p:sp>
    </p:spTree>
    <p:extLst>
      <p:ext uri="{BB962C8B-B14F-4D97-AF65-F5344CB8AC3E}">
        <p14:creationId xmlns:p14="http://schemas.microsoft.com/office/powerpoint/2010/main" val="2063891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305560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refers to incomplete knowledge about a system, process, or future outcome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Uncertainty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Aleatory (Randomness):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inherent variability (e.g., material properties, weather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Epistemic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(Knowledge-based):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lack of data, measurement errors, or limited models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614680"/>
            <a:ext cx="8412480" cy="592836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 Engineering: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fatigue life of a component under variable loading.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renewable energy generation (solar/wind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to Manage Uncertainty: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more data (experiments, testing).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probabilistic methods (Monte Carlo simulation).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sensitivity analysis to identify critical factors.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 robust design principles.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611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possibility of an adverse outcome due to uncertainty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= Probability × Consequence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 Engineering: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failure in a bridge due to material fatigue.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risk in industrial IoT systems.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risk in adopting new technologies.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Process: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What can go wrong?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Likelihood &amp; severity.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Mitigation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Preventive and corrective measures.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Continuous tracking and updates.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3595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 arises when information is open to multiple interpretations or when goals and priorities are unclear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Ambiguity: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Poorly defined problem statements.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Conflicting stakeholder requirements.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common terminology or standards.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513080"/>
            <a:ext cx="8493760" cy="5989320"/>
          </a:xfrm>
        </p:spPr>
        <p:txBody>
          <a:bodyPr>
            <a:normAutofit/>
          </a:bodyPr>
          <a:lstStyle/>
          <a:p>
            <a:r>
              <a:rPr lang="en-US" b="1" dirty="0"/>
              <a:t>Examples in Engineering:</a:t>
            </a:r>
            <a:endParaRPr lang="en-US" dirty="0"/>
          </a:p>
          <a:p>
            <a:r>
              <a:rPr lang="en-US" dirty="0"/>
              <a:t>Ambiguous customer requirements in product design.</a:t>
            </a:r>
          </a:p>
          <a:p>
            <a:r>
              <a:rPr lang="en-US" dirty="0"/>
              <a:t>Policy uncertainty in renewable energy projects.</a:t>
            </a:r>
          </a:p>
          <a:p>
            <a:r>
              <a:rPr lang="en-US" b="1" dirty="0"/>
              <a:t>Strategies to Reduce Ambiguity:</a:t>
            </a:r>
            <a:endParaRPr lang="en-US" dirty="0"/>
          </a:p>
          <a:p>
            <a:r>
              <a:rPr lang="en-US" dirty="0"/>
              <a:t>Improve communication and documentation.</a:t>
            </a:r>
          </a:p>
          <a:p>
            <a:r>
              <a:rPr lang="en-US" dirty="0"/>
              <a:t>Engage stakeholders early and frequently.</a:t>
            </a:r>
          </a:p>
          <a:p>
            <a:r>
              <a:rPr lang="en-US" dirty="0"/>
              <a:t>Use prototyping and iterative design.</a:t>
            </a:r>
          </a:p>
          <a:p>
            <a:r>
              <a:rPr lang="en-US" dirty="0"/>
              <a:t>Develop decision-support tools.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677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Interrelation of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15720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dirty="0"/>
              <a:t>Complexity increases uncertainty.</a:t>
            </a:r>
          </a:p>
          <a:p>
            <a:r>
              <a:rPr dirty="0"/>
              <a:t>Uncertainty creates risk.</a:t>
            </a:r>
          </a:p>
          <a:p>
            <a:r>
              <a:rPr dirty="0"/>
              <a:t>Ambiguity makes assessment and communication difficult.</a:t>
            </a:r>
          </a:p>
          <a:p>
            <a:r>
              <a:rPr dirty="0"/>
              <a:t>Engineers must balance all four challenges.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272" y="421640"/>
            <a:ext cx="6177047" cy="5709427"/>
          </a:xfrm>
        </p:spPr>
      </p:pic>
    </p:spTree>
    <p:extLst>
      <p:ext uri="{BB962C8B-B14F-4D97-AF65-F5344CB8AC3E}">
        <p14:creationId xmlns:p14="http://schemas.microsoft.com/office/powerpoint/2010/main" val="1611479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Examples/ Case Studies </a:t>
            </a:r>
            <a:r>
              <a:rPr lang="en-IN" dirty="0">
                <a:solidFill>
                  <a:srgbClr val="FF0000"/>
                </a:solidFill>
              </a:rPr>
              <a:t>in Engineering: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801049"/>
            <a:ext cx="841248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Designing smart manufacturing systems (Industry 4.0)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transportation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Sustainable energy systems integration</a:t>
            </a:r>
          </a:p>
        </p:txBody>
      </p:sp>
    </p:spTree>
    <p:extLst>
      <p:ext uri="{BB962C8B-B14F-4D97-AF65-F5344CB8AC3E}">
        <p14:creationId xmlns:p14="http://schemas.microsoft.com/office/powerpoint/2010/main" val="2319847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240" y="244158"/>
            <a:ext cx="8097520" cy="680402"/>
          </a:xfrm>
        </p:spPr>
        <p:txBody>
          <a:bodyPr>
            <a:noAutofit/>
          </a:bodyPr>
          <a:lstStyle/>
          <a:p>
            <a:pPr lvl="0"/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smart manufacturing systems (Industry 4.0)</a:t>
            </a:r>
            <a:b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120" y="787400"/>
            <a:ext cx="8646160" cy="58166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manufacturing (also called Industry 4.0) integrates automation, IoT, AI, robotics, and data analytics to optimize production systems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/>
              <a:t>Why Complex?</a:t>
            </a:r>
            <a:endParaRPr lang="en-US" sz="2400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interconnected technologies (sensors, robotics, cloud systems, AI algorithms).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flows across different machines, networks, and decision layers.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Cyber-physical systems need integration across hardware and software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Uncertainty Factors:</a:t>
            </a:r>
            <a:endParaRPr lang="en-US" sz="2400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new technologies will perform at large scale.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and reliability from IoT sensors.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technology evolution — tools chosen today may be outdated tomorrow.</a:t>
            </a:r>
          </a:p>
          <a:p>
            <a:pPr marL="0" indent="0">
              <a:buNone/>
            </a:pPr>
            <a:r>
              <a:rPr lang="en-US" sz="2400" b="1" dirty="0"/>
              <a:t>Risks:</a:t>
            </a:r>
            <a:endParaRPr lang="en-US" sz="2400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attacks on automated systems.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downtime due to integration failures.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financial risk from investing in expensive but unproven technologies.</a:t>
            </a:r>
          </a:p>
          <a:p>
            <a:pPr marL="0" indent="0">
              <a:buNone/>
            </a:pPr>
            <a:r>
              <a:rPr lang="en-US" sz="2400" b="1" dirty="0"/>
              <a:t>Ambiguity:</a:t>
            </a:r>
            <a:endParaRPr lang="en-US" sz="2400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clear industry standards for interoperability.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stakeholders (management, operators, IT teams) may interpret “smart manufacturing” differently.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42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534400" cy="477202"/>
          </a:xfrm>
        </p:spPr>
        <p:txBody>
          <a:bodyPr>
            <a:normAutofit fontScale="90000"/>
          </a:bodyPr>
          <a:lstStyle/>
          <a:p>
            <a:pPr lvl="0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Urban </a:t>
            </a: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planning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502602"/>
            <a:ext cx="8747760" cy="6162040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metro systems, bus rapid transit, or smart traffic control involves engineering,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policy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social dimensions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Complex?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roads, rail, traffic signals, pedestrian pathways, vehicles, and human behavior.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stakeholders: government, citizens, transport operators, environmental groups.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Huge infrastructure scale — interconnected subsystems (stations, power, signaling, vehicles).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Factors: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Unpredictable population growth and travel demand.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in fuel prices or future mobility trends (e.g., electric vehicles, shared mobility).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gaps in traffic surveys and travel behavior.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overruns and delays in mega projects.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risks (accidents, infrastructure failure).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risk if the system fails to meet public expectations.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Conflicting goals: some prioritize low-cost solutions, others environmental sustainability.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directions (e.g., should funds go to metro rail or road expansion?) may be unclear.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713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913</Words>
  <Application>Microsoft Office PowerPoint</Application>
  <PresentationFormat>On-screen Show (4:3)</PresentationFormat>
  <Paragraphs>111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Dealing with Problem Complexity, Uncertainty, Risk, and Ambiguity</vt:lpstr>
      <vt:lpstr>Introduction</vt:lpstr>
      <vt:lpstr>Why CURA Matters</vt:lpstr>
      <vt:lpstr>Problem Complexity</vt:lpstr>
      <vt:lpstr>Characteristics of Complex Problems</vt:lpstr>
      <vt:lpstr>Approaches to Handle Complexity:</vt:lpstr>
      <vt:lpstr>Uncertainty</vt:lpstr>
      <vt:lpstr>PowerPoint Presentation</vt:lpstr>
      <vt:lpstr>Risk</vt:lpstr>
      <vt:lpstr> Risk Management Process: </vt:lpstr>
      <vt:lpstr>Ambiguity</vt:lpstr>
      <vt:lpstr>PowerPoint Presentation</vt:lpstr>
      <vt:lpstr>Interrelation of Factors</vt:lpstr>
      <vt:lpstr>PowerPoint Presentation</vt:lpstr>
      <vt:lpstr>Examples/ Case Studies in Engineering:</vt:lpstr>
      <vt:lpstr>Designing smart manufacturing systems (Industry 4.0) </vt:lpstr>
      <vt:lpstr> Urban transportation planning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Dealing with Problem Complexity, Uncertainty, Risk, and Ambiguity</dc:title>
  <dc:subject/>
  <dc:creator>104721</dc:creator>
  <cp:keywords/>
  <dc:description>generated using python-pptx</dc:description>
  <cp:lastModifiedBy>KIIT0001</cp:lastModifiedBy>
  <cp:revision>10</cp:revision>
  <dcterms:created xsi:type="dcterms:W3CDTF">2013-01-27T09:14:16Z</dcterms:created>
  <dcterms:modified xsi:type="dcterms:W3CDTF">2025-08-17T18:26:12Z</dcterms:modified>
  <cp:category/>
</cp:coreProperties>
</file>