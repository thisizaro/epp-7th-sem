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6"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FF340-6C0D-4B6F-AF3B-79295FB40159}" v="31" dt="2025-08-21T05:24:27.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8" d="100"/>
          <a:sy n="78" d="100"/>
        </p:scale>
        <p:origin x="2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uthwiraj Sahu" userId="8ad9f87b72fa17b9" providerId="LiveId" clId="{CACFF340-6C0D-4B6F-AF3B-79295FB40159}"/>
    <pc:docChg chg="custSel addSld modSld">
      <pc:chgData name="Pruthwiraj Sahu" userId="8ad9f87b72fa17b9" providerId="LiveId" clId="{CACFF340-6C0D-4B6F-AF3B-79295FB40159}" dt="2025-08-21T05:31:23.682" v="261" actId="1076"/>
      <pc:docMkLst>
        <pc:docMk/>
      </pc:docMkLst>
      <pc:sldChg chg="modSp mod">
        <pc:chgData name="Pruthwiraj Sahu" userId="8ad9f87b72fa17b9" providerId="LiveId" clId="{CACFF340-6C0D-4B6F-AF3B-79295FB40159}" dt="2025-08-21T05:31:23.682" v="261" actId="1076"/>
        <pc:sldMkLst>
          <pc:docMk/>
          <pc:sldMk cId="2810656552" sldId="256"/>
        </pc:sldMkLst>
        <pc:spChg chg="mod">
          <ac:chgData name="Pruthwiraj Sahu" userId="8ad9f87b72fa17b9" providerId="LiveId" clId="{CACFF340-6C0D-4B6F-AF3B-79295FB40159}" dt="2025-08-21T05:31:23.682" v="261" actId="1076"/>
          <ac:spMkLst>
            <pc:docMk/>
            <pc:sldMk cId="2810656552" sldId="256"/>
            <ac:spMk id="2" creationId="{0684B431-D339-4A70-B1AC-5377398923E8}"/>
          </ac:spMkLst>
        </pc:spChg>
      </pc:sldChg>
      <pc:sldChg chg="modSp mod">
        <pc:chgData name="Pruthwiraj Sahu" userId="8ad9f87b72fa17b9" providerId="LiveId" clId="{CACFF340-6C0D-4B6F-AF3B-79295FB40159}" dt="2025-08-21T05:22:15.301" v="146" actId="20577"/>
        <pc:sldMkLst>
          <pc:docMk/>
          <pc:sldMk cId="2611477084" sldId="257"/>
        </pc:sldMkLst>
        <pc:spChg chg="mod">
          <ac:chgData name="Pruthwiraj Sahu" userId="8ad9f87b72fa17b9" providerId="LiveId" clId="{CACFF340-6C0D-4B6F-AF3B-79295FB40159}" dt="2025-08-14T06:34:22.522" v="10" actId="1076"/>
          <ac:spMkLst>
            <pc:docMk/>
            <pc:sldMk cId="2611477084" sldId="257"/>
            <ac:spMk id="2" creationId="{D5968CF9-26D3-448A-8D9E-ACABE8C601E6}"/>
          </ac:spMkLst>
        </pc:spChg>
        <pc:spChg chg="mod">
          <ac:chgData name="Pruthwiraj Sahu" userId="8ad9f87b72fa17b9" providerId="LiveId" clId="{CACFF340-6C0D-4B6F-AF3B-79295FB40159}" dt="2025-08-21T05:22:15.301" v="146" actId="20577"/>
          <ac:spMkLst>
            <pc:docMk/>
            <pc:sldMk cId="2611477084" sldId="257"/>
            <ac:spMk id="3" creationId="{90D0E1EC-C26D-4E24-A8FC-9622B2BC35CF}"/>
          </ac:spMkLst>
        </pc:spChg>
      </pc:sldChg>
      <pc:sldChg chg="modSp mod">
        <pc:chgData name="Pruthwiraj Sahu" userId="8ad9f87b72fa17b9" providerId="LiveId" clId="{CACFF340-6C0D-4B6F-AF3B-79295FB40159}" dt="2025-08-21T04:12:07.158" v="62" actId="20577"/>
        <pc:sldMkLst>
          <pc:docMk/>
          <pc:sldMk cId="2413055395" sldId="258"/>
        </pc:sldMkLst>
        <pc:spChg chg="mod">
          <ac:chgData name="Pruthwiraj Sahu" userId="8ad9f87b72fa17b9" providerId="LiveId" clId="{CACFF340-6C0D-4B6F-AF3B-79295FB40159}" dt="2025-08-21T04:12:07.158" v="62" actId="20577"/>
          <ac:spMkLst>
            <pc:docMk/>
            <pc:sldMk cId="2413055395" sldId="258"/>
            <ac:spMk id="2" creationId="{6D2F982E-7EC5-4C33-9331-5B2ECBE19183}"/>
          </ac:spMkLst>
        </pc:spChg>
      </pc:sldChg>
      <pc:sldChg chg="modSp mod">
        <pc:chgData name="Pruthwiraj Sahu" userId="8ad9f87b72fa17b9" providerId="LiveId" clId="{CACFF340-6C0D-4B6F-AF3B-79295FB40159}" dt="2025-08-21T05:24:38.389" v="165" actId="207"/>
        <pc:sldMkLst>
          <pc:docMk/>
          <pc:sldMk cId="2753910603" sldId="259"/>
        </pc:sldMkLst>
        <pc:spChg chg="mod">
          <ac:chgData name="Pruthwiraj Sahu" userId="8ad9f87b72fa17b9" providerId="LiveId" clId="{CACFF340-6C0D-4B6F-AF3B-79295FB40159}" dt="2025-08-14T06:35:20.242" v="14" actId="207"/>
          <ac:spMkLst>
            <pc:docMk/>
            <pc:sldMk cId="2753910603" sldId="259"/>
            <ac:spMk id="2" creationId="{2072512A-D739-4949-9FEE-2F2E1E24B5FC}"/>
          </ac:spMkLst>
        </pc:spChg>
        <pc:spChg chg="mod">
          <ac:chgData name="Pruthwiraj Sahu" userId="8ad9f87b72fa17b9" providerId="LiveId" clId="{CACFF340-6C0D-4B6F-AF3B-79295FB40159}" dt="2025-08-21T05:24:38.389" v="165" actId="207"/>
          <ac:spMkLst>
            <pc:docMk/>
            <pc:sldMk cId="2753910603" sldId="259"/>
            <ac:spMk id="3" creationId="{557A850D-5FF8-42B2-A6B9-53293FFD0B33}"/>
          </ac:spMkLst>
        </pc:spChg>
      </pc:sldChg>
      <pc:sldChg chg="modSp mod">
        <pc:chgData name="Pruthwiraj Sahu" userId="8ad9f87b72fa17b9" providerId="LiveId" clId="{CACFF340-6C0D-4B6F-AF3B-79295FB40159}" dt="2025-08-21T05:25:56.810" v="173" actId="20577"/>
        <pc:sldMkLst>
          <pc:docMk/>
          <pc:sldMk cId="4139304683" sldId="260"/>
        </pc:sldMkLst>
        <pc:spChg chg="mod">
          <ac:chgData name="Pruthwiraj Sahu" userId="8ad9f87b72fa17b9" providerId="LiveId" clId="{CACFF340-6C0D-4B6F-AF3B-79295FB40159}" dt="2025-08-21T05:25:56.810" v="173" actId="20577"/>
          <ac:spMkLst>
            <pc:docMk/>
            <pc:sldMk cId="4139304683" sldId="260"/>
            <ac:spMk id="2" creationId="{4BCC3FA8-28BA-4E85-9F04-714275DFCE0B}"/>
          </ac:spMkLst>
        </pc:spChg>
      </pc:sldChg>
      <pc:sldChg chg="modSp mod">
        <pc:chgData name="Pruthwiraj Sahu" userId="8ad9f87b72fa17b9" providerId="LiveId" clId="{CACFF340-6C0D-4B6F-AF3B-79295FB40159}" dt="2025-08-21T05:28:12.076" v="234" actId="207"/>
        <pc:sldMkLst>
          <pc:docMk/>
          <pc:sldMk cId="1931281753" sldId="261"/>
        </pc:sldMkLst>
        <pc:spChg chg="mod">
          <ac:chgData name="Pruthwiraj Sahu" userId="8ad9f87b72fa17b9" providerId="LiveId" clId="{CACFF340-6C0D-4B6F-AF3B-79295FB40159}" dt="2025-08-14T06:35:51.075" v="19" actId="207"/>
          <ac:spMkLst>
            <pc:docMk/>
            <pc:sldMk cId="1931281753" sldId="261"/>
            <ac:spMk id="2" creationId="{120CECA1-F307-4F46-9C09-C1EFBE564585}"/>
          </ac:spMkLst>
        </pc:spChg>
        <pc:spChg chg="mod">
          <ac:chgData name="Pruthwiraj Sahu" userId="8ad9f87b72fa17b9" providerId="LiveId" clId="{CACFF340-6C0D-4B6F-AF3B-79295FB40159}" dt="2025-08-21T05:28:12.076" v="234" actId="207"/>
          <ac:spMkLst>
            <pc:docMk/>
            <pc:sldMk cId="1931281753" sldId="261"/>
            <ac:spMk id="3" creationId="{0EF46294-86E8-489C-A3F0-673775474401}"/>
          </ac:spMkLst>
        </pc:spChg>
      </pc:sldChg>
      <pc:sldChg chg="modSp mod">
        <pc:chgData name="Pruthwiraj Sahu" userId="8ad9f87b72fa17b9" providerId="LiveId" clId="{CACFF340-6C0D-4B6F-AF3B-79295FB40159}" dt="2025-08-21T04:46:57.690" v="68" actId="207"/>
        <pc:sldMkLst>
          <pc:docMk/>
          <pc:sldMk cId="627904583" sldId="262"/>
        </pc:sldMkLst>
        <pc:spChg chg="mod">
          <ac:chgData name="Pruthwiraj Sahu" userId="8ad9f87b72fa17b9" providerId="LiveId" clId="{CACFF340-6C0D-4B6F-AF3B-79295FB40159}" dt="2025-08-21T04:46:57.690" v="68" actId="207"/>
          <ac:spMkLst>
            <pc:docMk/>
            <pc:sldMk cId="627904583" sldId="262"/>
            <ac:spMk id="2" creationId="{172AC544-44A7-43AE-9B25-A7B2F3234C36}"/>
          </ac:spMkLst>
        </pc:spChg>
      </pc:sldChg>
      <pc:sldChg chg="modSp mod">
        <pc:chgData name="Pruthwiraj Sahu" userId="8ad9f87b72fa17b9" providerId="LiveId" clId="{CACFF340-6C0D-4B6F-AF3B-79295FB40159}" dt="2025-08-14T06:36:17.078" v="22" actId="207"/>
        <pc:sldMkLst>
          <pc:docMk/>
          <pc:sldMk cId="1697590014" sldId="263"/>
        </pc:sldMkLst>
        <pc:spChg chg="mod">
          <ac:chgData name="Pruthwiraj Sahu" userId="8ad9f87b72fa17b9" providerId="LiveId" clId="{CACFF340-6C0D-4B6F-AF3B-79295FB40159}" dt="2025-08-14T06:36:17.078" v="22" actId="207"/>
          <ac:spMkLst>
            <pc:docMk/>
            <pc:sldMk cId="1697590014" sldId="263"/>
            <ac:spMk id="2" creationId="{278F0C36-50B8-4348-A961-85A5D6BFFC31}"/>
          </ac:spMkLst>
        </pc:spChg>
      </pc:sldChg>
      <pc:sldChg chg="modSp mod">
        <pc:chgData name="Pruthwiraj Sahu" userId="8ad9f87b72fa17b9" providerId="LiveId" clId="{CACFF340-6C0D-4B6F-AF3B-79295FB40159}" dt="2025-08-21T05:18:31.163" v="97" actId="207"/>
        <pc:sldMkLst>
          <pc:docMk/>
          <pc:sldMk cId="3669354253" sldId="264"/>
        </pc:sldMkLst>
        <pc:spChg chg="mod">
          <ac:chgData name="Pruthwiraj Sahu" userId="8ad9f87b72fa17b9" providerId="LiveId" clId="{CACFF340-6C0D-4B6F-AF3B-79295FB40159}" dt="2025-08-21T05:18:31.163" v="97" actId="207"/>
          <ac:spMkLst>
            <pc:docMk/>
            <pc:sldMk cId="3669354253" sldId="264"/>
            <ac:spMk id="2" creationId="{4C2F319F-0C99-48AE-B233-BCC69C3D0B8B}"/>
          </ac:spMkLst>
        </pc:spChg>
      </pc:sldChg>
      <pc:sldChg chg="modSp mod">
        <pc:chgData name="Pruthwiraj Sahu" userId="8ad9f87b72fa17b9" providerId="LiveId" clId="{CACFF340-6C0D-4B6F-AF3B-79295FB40159}" dt="2025-08-21T05:29:28.658" v="239" actId="20577"/>
        <pc:sldMkLst>
          <pc:docMk/>
          <pc:sldMk cId="1796283071" sldId="266"/>
        </pc:sldMkLst>
        <pc:spChg chg="mod">
          <ac:chgData name="Pruthwiraj Sahu" userId="8ad9f87b72fa17b9" providerId="LiveId" clId="{CACFF340-6C0D-4B6F-AF3B-79295FB40159}" dt="2025-08-21T05:29:28.658" v="239" actId="20577"/>
          <ac:spMkLst>
            <pc:docMk/>
            <pc:sldMk cId="1796283071" sldId="266"/>
            <ac:spMk id="2" creationId="{0EAA3A0A-9DC6-498C-9E52-EE119267C58A}"/>
          </ac:spMkLst>
        </pc:spChg>
      </pc:sldChg>
      <pc:sldChg chg="modSp mod">
        <pc:chgData name="Pruthwiraj Sahu" userId="8ad9f87b72fa17b9" providerId="LiveId" clId="{CACFF340-6C0D-4B6F-AF3B-79295FB40159}" dt="2025-08-14T06:37:56.033" v="27" actId="207"/>
        <pc:sldMkLst>
          <pc:docMk/>
          <pc:sldMk cId="3447968185" sldId="268"/>
        </pc:sldMkLst>
        <pc:spChg chg="mod">
          <ac:chgData name="Pruthwiraj Sahu" userId="8ad9f87b72fa17b9" providerId="LiveId" clId="{CACFF340-6C0D-4B6F-AF3B-79295FB40159}" dt="2025-08-14T06:37:56.033" v="27" actId="207"/>
          <ac:spMkLst>
            <pc:docMk/>
            <pc:sldMk cId="3447968185" sldId="268"/>
            <ac:spMk id="2" creationId="{C47CD23A-CEEE-4F5A-A20F-F6CE39D90A91}"/>
          </ac:spMkLst>
        </pc:spChg>
      </pc:sldChg>
      <pc:sldChg chg="modSp mod">
        <pc:chgData name="Pruthwiraj Sahu" userId="8ad9f87b72fa17b9" providerId="LiveId" clId="{CACFF340-6C0D-4B6F-AF3B-79295FB40159}" dt="2025-08-14T06:38:11.719" v="31" actId="207"/>
        <pc:sldMkLst>
          <pc:docMk/>
          <pc:sldMk cId="2275354101" sldId="269"/>
        </pc:sldMkLst>
        <pc:spChg chg="mod">
          <ac:chgData name="Pruthwiraj Sahu" userId="8ad9f87b72fa17b9" providerId="LiveId" clId="{CACFF340-6C0D-4B6F-AF3B-79295FB40159}" dt="2025-08-14T06:38:11.719" v="31" actId="207"/>
          <ac:spMkLst>
            <pc:docMk/>
            <pc:sldMk cId="2275354101" sldId="269"/>
            <ac:spMk id="2" creationId="{6C6161FF-59FA-49A7-9F93-10BEA2272E4C}"/>
          </ac:spMkLst>
        </pc:spChg>
      </pc:sldChg>
      <pc:sldChg chg="addSp modSp new mod">
        <pc:chgData name="Pruthwiraj Sahu" userId="8ad9f87b72fa17b9" providerId="LiveId" clId="{CACFF340-6C0D-4B6F-AF3B-79295FB40159}" dt="2025-08-14T06:39:27.260" v="50" actId="1076"/>
        <pc:sldMkLst>
          <pc:docMk/>
          <pc:sldMk cId="548454215" sldId="271"/>
        </pc:sldMkLst>
        <pc:spChg chg="add mod">
          <ac:chgData name="Pruthwiraj Sahu" userId="8ad9f87b72fa17b9" providerId="LiveId" clId="{CACFF340-6C0D-4B6F-AF3B-79295FB40159}" dt="2025-08-14T06:39:27.260" v="50" actId="1076"/>
          <ac:spMkLst>
            <pc:docMk/>
            <pc:sldMk cId="548454215" sldId="271"/>
            <ac:spMk id="2" creationId="{0F63583E-EB54-2C97-7ED8-AD237A4A224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77D9-F61A-4FE9-95D7-F2231F0755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7C329F-E7B6-4136-91FE-F38DE969D2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070B66-F86D-42F1-912B-0D67CDA00451}"/>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07AE1F6D-C5F0-4172-9A79-4C3313AD9C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435D73-1F14-4C0F-84F8-91320DA194F2}"/>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1163848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C3B9-3FC7-49BC-9EC0-3CF58CE4B7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1BFA26-8D14-4CC5-AE9F-539130DBE39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558812-A4E5-447E-947D-1FD516629E9A}"/>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AD0B198D-0267-450A-BCE0-A44B39A32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97B86-B9EC-42B2-8128-CBAE3013F8C0}"/>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3331557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7CCF-B25F-4EAA-81A4-0C776C7E38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E2751A-40BC-4D73-96A0-F18C530FB2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2A4C94F-3DD5-4FD4-88D0-3248E2CCE561}"/>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21689A67-D739-4BCD-988B-95440E8558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8D1021-D545-49A5-8555-2D56E0F73908}"/>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2942930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D8C0-6CEC-4972-9B3E-460D5EDAEE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E13216-F589-463B-9570-D7B58079E8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5765D8-CA6F-4BC6-8334-180C8E605CD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A4EB66-7D2E-4452-8E24-28A65B75A278}"/>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6" name="Footer Placeholder 5">
            <a:extLst>
              <a:ext uri="{FF2B5EF4-FFF2-40B4-BE49-F238E27FC236}">
                <a16:creationId xmlns:a16="http://schemas.microsoft.com/office/drawing/2014/main" id="{8F36999B-FF40-47C7-9744-13A96AA3F1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B8D2EA-03E1-4DC0-A5CA-833EFF60DC6A}"/>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808515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92AEF-D901-46D2-BD34-250BD46FA6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331034-5401-4C43-A70F-D19FD9582C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F922682-97AA-4939-B596-41AB6287035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89F050-BCC8-41C4-A4C1-2CF55F6AF8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0236F67-ADE9-4D50-8185-DFAD16FB597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DA3659C-2B74-436A-A135-8843B838AAB2}"/>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8" name="Footer Placeholder 7">
            <a:extLst>
              <a:ext uri="{FF2B5EF4-FFF2-40B4-BE49-F238E27FC236}">
                <a16:creationId xmlns:a16="http://schemas.microsoft.com/office/drawing/2014/main" id="{5F570D02-8295-47BB-A6AD-FB94149C4A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209C30C-96F4-47A3-B9B5-920E537416EB}"/>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16239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BBD9E-12A1-494E-BFA9-2CD6D9A3D26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FFF202-63A1-48AA-8057-57C4BD07C067}"/>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4" name="Footer Placeholder 3">
            <a:extLst>
              <a:ext uri="{FF2B5EF4-FFF2-40B4-BE49-F238E27FC236}">
                <a16:creationId xmlns:a16="http://schemas.microsoft.com/office/drawing/2014/main" id="{530E33AD-94B5-4452-A551-36EF568CA5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8C41BF-A187-4F56-BBD5-3640340271D6}"/>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207789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0E680-4419-4059-A042-761851B8AE69}"/>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3" name="Footer Placeholder 2">
            <a:extLst>
              <a:ext uri="{FF2B5EF4-FFF2-40B4-BE49-F238E27FC236}">
                <a16:creationId xmlns:a16="http://schemas.microsoft.com/office/drawing/2014/main" id="{26A38098-9D45-4F89-8A4C-25C6DFAF22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DED571-E172-41E0-8139-D9F220447620}"/>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3637916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BEA8E-7169-4197-880A-728771DB52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9A455E-00B2-4B61-B953-3B8EF6812D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48278D-18F5-4FF0-A82F-DE02951627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9771D38-D284-4613-B5D5-CCB3A24AD4F1}"/>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6" name="Footer Placeholder 5">
            <a:extLst>
              <a:ext uri="{FF2B5EF4-FFF2-40B4-BE49-F238E27FC236}">
                <a16:creationId xmlns:a16="http://schemas.microsoft.com/office/drawing/2014/main" id="{8ECB330B-84F4-4995-8569-E09BCFC39C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E38A90-7303-47BC-8B92-38BAA876E883}"/>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373308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F8A20-AD12-4A90-8462-E223E398A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46FDBC-3BB8-476E-8EDD-6E373C4E33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70B688-DE8B-4482-B75C-2EBF7974D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805462-1C3E-4604-B58A-788249CD2C51}"/>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6" name="Footer Placeholder 5">
            <a:extLst>
              <a:ext uri="{FF2B5EF4-FFF2-40B4-BE49-F238E27FC236}">
                <a16:creationId xmlns:a16="http://schemas.microsoft.com/office/drawing/2014/main" id="{F7E65151-6FEB-4609-BC36-65C5B256AD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329662-D2D7-45C8-B401-ED5ABE2FA268}"/>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218572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65AC7-88DB-49AC-B0BC-9008D34595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80DE43-5AB7-4529-9435-050744A921A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F40D4B-2260-4955-AFAE-D841614EDE33}"/>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6FFAAFE5-64CE-44E3-A5AD-A65DEA0A0F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715703-6008-4BEF-AE68-273BBA0CE301}"/>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1127108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4E8706-D297-49A3-8B32-99DF214C85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8DCA19-4B83-4D23-8558-39ECA8F38A3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9C539F-2D26-4FD6-88FD-9B5CC5231CDF}"/>
              </a:ext>
            </a:extLst>
          </p:cNvPr>
          <p:cNvSpPr>
            <a:spLocks noGrp="1"/>
          </p:cNvSpPr>
          <p:nvPr>
            <p:ph type="dt" sz="half" idx="10"/>
          </p:nvPr>
        </p:nvSpPr>
        <p:spPr/>
        <p:txBody>
          <a:body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03CF2C31-C5B3-4171-B1D4-A3C01B20F9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15BEEB-6D90-49F3-97AB-724517BA4E7E}"/>
              </a:ext>
            </a:extLst>
          </p:cNvPr>
          <p:cNvSpPr>
            <a:spLocks noGrp="1"/>
          </p:cNvSpPr>
          <p:nvPr>
            <p:ph type="sldNum" sz="quarter" idx="12"/>
          </p:nvPr>
        </p:nvSpPr>
        <p:spPr/>
        <p:txBody>
          <a:bodyPr/>
          <a:lstStyle/>
          <a:p>
            <a:fld id="{6D9EE27B-DE44-4D5A-B4EF-437AD8577679}" type="slidenum">
              <a:rPr lang="en-IN" smtClean="0"/>
              <a:t>‹#›</a:t>
            </a:fld>
            <a:endParaRPr lang="en-IN"/>
          </a:p>
        </p:txBody>
      </p:sp>
    </p:spTree>
    <p:extLst>
      <p:ext uri="{BB962C8B-B14F-4D97-AF65-F5344CB8AC3E}">
        <p14:creationId xmlns:p14="http://schemas.microsoft.com/office/powerpoint/2010/main" val="262913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25DF5E-D132-4CAE-8348-2A116BC500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474D8E-A923-4750-AC69-D912E29827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2E510D-E9AD-479C-BCD0-E4DCE1D0FB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5C4682-46AB-41C2-9308-2CB09B6878F7}" type="datetimeFigureOut">
              <a:rPr lang="en-IN" smtClean="0"/>
              <a:t>20-08-2025</a:t>
            </a:fld>
            <a:endParaRPr lang="en-IN"/>
          </a:p>
        </p:txBody>
      </p:sp>
      <p:sp>
        <p:nvSpPr>
          <p:cNvPr id="5" name="Footer Placeholder 4">
            <a:extLst>
              <a:ext uri="{FF2B5EF4-FFF2-40B4-BE49-F238E27FC236}">
                <a16:creationId xmlns:a16="http://schemas.microsoft.com/office/drawing/2014/main" id="{5C69A499-FE31-44A7-A0E5-2DE1B424C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2A9A9ED-78A0-4ABD-A404-E5E8A5F6A6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9EE27B-DE44-4D5A-B4EF-437AD8577679}" type="slidenum">
              <a:rPr lang="en-IN" smtClean="0"/>
              <a:t>‹#›</a:t>
            </a:fld>
            <a:endParaRPr lang="en-IN"/>
          </a:p>
        </p:txBody>
      </p:sp>
    </p:spTree>
    <p:extLst>
      <p:ext uri="{BB962C8B-B14F-4D97-AF65-F5344CB8AC3E}">
        <p14:creationId xmlns:p14="http://schemas.microsoft.com/office/powerpoint/2010/main" val="2356266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4B431-D339-4A70-B1AC-5377398923E8}"/>
              </a:ext>
            </a:extLst>
          </p:cNvPr>
          <p:cNvSpPr>
            <a:spLocks noGrp="1"/>
          </p:cNvSpPr>
          <p:nvPr>
            <p:ph type="ctrTitle"/>
          </p:nvPr>
        </p:nvSpPr>
        <p:spPr>
          <a:xfrm>
            <a:off x="2548617" y="1036865"/>
            <a:ext cx="7094766" cy="4253593"/>
          </a:xfrm>
          <a:solidFill>
            <a:schemeClr val="accent6">
              <a:lumMod val="60000"/>
              <a:lumOff val="40000"/>
            </a:schemeClr>
          </a:solidFill>
        </p:spPr>
        <p:txBody>
          <a:bodyPr>
            <a:noAutofit/>
          </a:bodyPr>
          <a:lstStyle/>
          <a:p>
            <a:r>
              <a:rPr lang="en-US" sz="9600" b="1" dirty="0"/>
              <a:t>Production and Productivity</a:t>
            </a:r>
            <a:endParaRPr lang="en-IN" sz="9600" b="1" dirty="0"/>
          </a:p>
        </p:txBody>
      </p:sp>
    </p:spTree>
    <p:extLst>
      <p:ext uri="{BB962C8B-B14F-4D97-AF65-F5344CB8AC3E}">
        <p14:creationId xmlns:p14="http://schemas.microsoft.com/office/powerpoint/2010/main" val="2810656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8CF9-26D3-448A-8D9E-ACABE8C601E6}"/>
              </a:ext>
            </a:extLst>
          </p:cNvPr>
          <p:cNvSpPr>
            <a:spLocks noGrp="1"/>
          </p:cNvSpPr>
          <p:nvPr>
            <p:ph type="title"/>
          </p:nvPr>
        </p:nvSpPr>
        <p:spPr>
          <a:xfrm>
            <a:off x="838200" y="206374"/>
            <a:ext cx="6664779" cy="949325"/>
          </a:xfrm>
          <a:solidFill>
            <a:schemeClr val="accent6">
              <a:lumMod val="60000"/>
              <a:lumOff val="40000"/>
            </a:schemeClr>
          </a:solidFill>
        </p:spPr>
        <p:txBody>
          <a:bodyPr/>
          <a:lstStyle/>
          <a:p>
            <a:r>
              <a:rPr lang="en-US" dirty="0"/>
              <a:t>Production and Productivity</a:t>
            </a:r>
            <a:endParaRPr lang="en-IN" dirty="0"/>
          </a:p>
        </p:txBody>
      </p:sp>
      <p:sp>
        <p:nvSpPr>
          <p:cNvPr id="3" name="Content Placeholder 2">
            <a:extLst>
              <a:ext uri="{FF2B5EF4-FFF2-40B4-BE49-F238E27FC236}">
                <a16:creationId xmlns:a16="http://schemas.microsoft.com/office/drawing/2014/main" id="{90D0E1EC-C26D-4E24-A8FC-9622B2BC35CF}"/>
              </a:ext>
            </a:extLst>
          </p:cNvPr>
          <p:cNvSpPr>
            <a:spLocks noGrp="1"/>
          </p:cNvSpPr>
          <p:nvPr>
            <p:ph idx="1"/>
          </p:nvPr>
        </p:nvSpPr>
        <p:spPr>
          <a:xfrm>
            <a:off x="277586" y="1727653"/>
            <a:ext cx="11781063" cy="4411890"/>
          </a:xfrm>
        </p:spPr>
        <p:txBody>
          <a:bodyPr>
            <a:noAutofit/>
          </a:bodyPr>
          <a:lstStyle/>
          <a:p>
            <a:r>
              <a:rPr lang="en-US" sz="2700" b="1" dirty="0"/>
              <a:t>Production</a:t>
            </a:r>
            <a:r>
              <a:rPr lang="en-US" sz="2700" dirty="0"/>
              <a:t> is concerned with the activity of producing goods and/or services.</a:t>
            </a:r>
          </a:p>
          <a:p>
            <a:pPr marL="0" indent="0">
              <a:buNone/>
            </a:pPr>
            <a:r>
              <a:rPr lang="en-US" sz="2700" dirty="0"/>
              <a:t>   	In quantitative terms, it is the quantity of output produced.</a:t>
            </a:r>
          </a:p>
          <a:p>
            <a:pPr marL="0" indent="0">
              <a:buNone/>
            </a:pPr>
            <a:endParaRPr lang="en-US" sz="2700" dirty="0"/>
          </a:p>
          <a:p>
            <a:r>
              <a:rPr lang="en-US" sz="2700" b="1" dirty="0"/>
              <a:t>Productivity</a:t>
            </a:r>
            <a:r>
              <a:rPr lang="en-US" sz="2700" dirty="0"/>
              <a:t> is concerned with the efficient utilization of resources (inputs) producing goods and/or services (output).</a:t>
            </a:r>
          </a:p>
          <a:p>
            <a:pPr marL="0" indent="0">
              <a:buNone/>
            </a:pPr>
            <a:r>
              <a:rPr lang="en-US" sz="2700" dirty="0"/>
              <a:t>	In quantitative terms, it is the ratio of the output produced to input(s) used.</a:t>
            </a:r>
          </a:p>
          <a:p>
            <a:pPr marL="0" indent="0">
              <a:buNone/>
            </a:pPr>
            <a:endParaRPr lang="en-US" sz="2700" dirty="0"/>
          </a:p>
          <a:p>
            <a:pPr marL="0" indent="0" algn="ctr">
              <a:buNone/>
            </a:pPr>
            <a:r>
              <a:rPr lang="en-US" sz="2700" dirty="0">
                <a:solidFill>
                  <a:srgbClr val="C00000"/>
                </a:solidFill>
              </a:rPr>
              <a:t>Productivity = output produced/input used</a:t>
            </a:r>
          </a:p>
          <a:p>
            <a:pPr marL="0" indent="0">
              <a:buNone/>
            </a:pPr>
            <a:endParaRPr lang="en-IN" sz="2700" dirty="0"/>
          </a:p>
        </p:txBody>
      </p:sp>
    </p:spTree>
    <p:extLst>
      <p:ext uri="{BB962C8B-B14F-4D97-AF65-F5344CB8AC3E}">
        <p14:creationId xmlns:p14="http://schemas.microsoft.com/office/powerpoint/2010/main" val="2611477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D2F982E-7EC5-4C33-9331-5B2ECBE19183}"/>
                  </a:ext>
                </a:extLst>
              </p:cNvPr>
              <p:cNvSpPr txBox="1"/>
              <p:nvPr/>
            </p:nvSpPr>
            <p:spPr>
              <a:xfrm>
                <a:off x="450574" y="477078"/>
                <a:ext cx="11039061" cy="6362319"/>
              </a:xfrm>
              <a:prstGeom prst="rect">
                <a:avLst/>
              </a:prstGeom>
              <a:noFill/>
            </p:spPr>
            <p:txBody>
              <a:bodyPr wrap="square" rtlCol="0">
                <a:spAutoFit/>
              </a:bodyPr>
              <a:lstStyle/>
              <a:p>
                <a:pPr>
                  <a:lnSpc>
                    <a:spcPct val="150000"/>
                  </a:lnSpc>
                </a:pPr>
                <a:r>
                  <a:rPr lang="en-US" sz="2400" b="1" dirty="0"/>
                  <a:t>Example: 1</a:t>
                </a:r>
              </a:p>
              <a:p>
                <a:pPr>
                  <a:lnSpc>
                    <a:spcPct val="150000"/>
                  </a:lnSpc>
                </a:pPr>
                <a:r>
                  <a:rPr lang="en-US" sz="2400" dirty="0">
                    <a:solidFill>
                      <a:srgbClr val="C00000"/>
                    </a:solidFill>
                  </a:rPr>
                  <a:t>A company manufacturing electronic calculators produced 10,000 calculators employing 50 persons working at 8 hours/day for 25 days. What are the values of production and productivity during this period?</a:t>
                </a:r>
              </a:p>
              <a:p>
                <a:pPr>
                  <a:lnSpc>
                    <a:spcPct val="150000"/>
                  </a:lnSpc>
                </a:pPr>
                <a:endParaRPr lang="en-US" sz="2400" dirty="0"/>
              </a:p>
              <a:p>
                <a:pPr>
                  <a:lnSpc>
                    <a:spcPct val="150000"/>
                  </a:lnSpc>
                </a:pPr>
                <a:r>
                  <a:rPr lang="en-US" sz="2400" dirty="0"/>
                  <a:t>	Production = 10,000 calculators</a:t>
                </a:r>
              </a:p>
              <a:p>
                <a:pPr>
                  <a:lnSpc>
                    <a:spcPct val="150000"/>
                  </a:lnSpc>
                </a:pPr>
                <a:r>
                  <a:rPr lang="en-US" sz="2400" dirty="0"/>
                  <a:t>	Productivity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10,000</m:t>
                        </m:r>
                      </m:num>
                      <m:den>
                        <m:r>
                          <a:rPr lang="en-US" sz="2400" b="0" i="1" smtClean="0">
                            <a:latin typeface="Cambria Math" panose="02040503050406030204" pitchFamily="18" charset="0"/>
                          </a:rPr>
                          <m:t>50</m:t>
                        </m:r>
                        <m:r>
                          <a:rPr lang="en-US" sz="2400" b="0" i="1" smtClean="0">
                            <a:latin typeface="Cambria Math" panose="02040503050406030204" pitchFamily="18" charset="0"/>
                            <a:ea typeface="Cambria Math" panose="02040503050406030204" pitchFamily="18" charset="0"/>
                          </a:rPr>
                          <m:t>×25×8</m:t>
                        </m:r>
                      </m:den>
                    </m:f>
                    <m:r>
                      <a:rPr lang="en-US" sz="2400" b="0" i="1" smtClean="0">
                        <a:latin typeface="Cambria Math" panose="02040503050406030204" pitchFamily="18" charset="0"/>
                      </a:rPr>
                      <m:t>=1</m:t>
                    </m:r>
                  </m:oMath>
                </a14:m>
                <a:r>
                  <a:rPr lang="en-US" sz="2400" dirty="0"/>
                  <a:t> calculator/person-hour</a:t>
                </a:r>
              </a:p>
              <a:p>
                <a:pPr>
                  <a:lnSpc>
                    <a:spcPct val="150000"/>
                  </a:lnSpc>
                </a:pPr>
                <a:endParaRPr lang="en-US" sz="2400" dirty="0"/>
              </a:p>
              <a:p>
                <a:pPr>
                  <a:lnSpc>
                    <a:spcPct val="150000"/>
                  </a:lnSpc>
                </a:pPr>
                <a:r>
                  <a:rPr lang="en-US" sz="2400" b="1" dirty="0"/>
                  <a:t>Check</a:t>
                </a:r>
                <a:r>
                  <a:rPr lang="en-US" sz="2400" dirty="0"/>
                  <a:t> that suppose the company used 10 additional persons and produced 20 % more calculators, production went up, but not productivity.</a:t>
                </a:r>
              </a:p>
              <a:p>
                <a:pPr>
                  <a:lnSpc>
                    <a:spcPct val="150000"/>
                  </a:lnSpc>
                </a:pPr>
                <a:endParaRPr lang="en-IN" sz="2400" dirty="0"/>
              </a:p>
            </p:txBody>
          </p:sp>
        </mc:Choice>
        <mc:Fallback>
          <p:sp>
            <p:nvSpPr>
              <p:cNvPr id="2" name="TextBox 1">
                <a:extLst>
                  <a:ext uri="{FF2B5EF4-FFF2-40B4-BE49-F238E27FC236}">
                    <a16:creationId xmlns:a16="http://schemas.microsoft.com/office/drawing/2014/main" id="{6D2F982E-7EC5-4C33-9331-5B2ECBE19183}"/>
                  </a:ext>
                </a:extLst>
              </p:cNvPr>
              <p:cNvSpPr txBox="1">
                <a:spLocks noRot="1" noChangeAspect="1" noMove="1" noResize="1" noEditPoints="1" noAdjustHandles="1" noChangeArrowheads="1" noChangeShapeType="1" noTextEdit="1"/>
              </p:cNvSpPr>
              <p:nvPr/>
            </p:nvSpPr>
            <p:spPr>
              <a:xfrm>
                <a:off x="450574" y="477078"/>
                <a:ext cx="11039061" cy="6362319"/>
              </a:xfrm>
              <a:prstGeom prst="rect">
                <a:avLst/>
              </a:prstGeom>
              <a:blipFill>
                <a:blip r:embed="rId2"/>
                <a:stretch>
                  <a:fillRect l="-883"/>
                </a:stretch>
              </a:blipFill>
            </p:spPr>
            <p:txBody>
              <a:bodyPr/>
              <a:lstStyle/>
              <a:p>
                <a:r>
                  <a:rPr lang="en-IN">
                    <a:noFill/>
                  </a:rPr>
                  <a:t> </a:t>
                </a:r>
              </a:p>
            </p:txBody>
          </p:sp>
        </mc:Fallback>
      </mc:AlternateContent>
    </p:spTree>
    <p:extLst>
      <p:ext uri="{BB962C8B-B14F-4D97-AF65-F5344CB8AC3E}">
        <p14:creationId xmlns:p14="http://schemas.microsoft.com/office/powerpoint/2010/main" val="241305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2512A-D739-4949-9FEE-2F2E1E24B5FC}"/>
              </a:ext>
            </a:extLst>
          </p:cNvPr>
          <p:cNvSpPr>
            <a:spLocks noGrp="1"/>
          </p:cNvSpPr>
          <p:nvPr>
            <p:ph type="title"/>
          </p:nvPr>
        </p:nvSpPr>
        <p:spPr>
          <a:xfrm>
            <a:off x="838200" y="365126"/>
            <a:ext cx="6468836" cy="932996"/>
          </a:xfrm>
          <a:solidFill>
            <a:schemeClr val="accent6">
              <a:lumMod val="60000"/>
              <a:lumOff val="40000"/>
            </a:schemeClr>
          </a:solidFill>
        </p:spPr>
        <p:txBody>
          <a:bodyPr/>
          <a:lstStyle/>
          <a:p>
            <a:r>
              <a:rPr lang="en-US" dirty="0"/>
              <a:t>Efficiency and Effectiveness</a:t>
            </a:r>
            <a:endParaRPr lang="en-IN" dirty="0"/>
          </a:p>
        </p:txBody>
      </p:sp>
      <p:sp>
        <p:nvSpPr>
          <p:cNvPr id="3" name="Content Placeholder 2">
            <a:extLst>
              <a:ext uri="{FF2B5EF4-FFF2-40B4-BE49-F238E27FC236}">
                <a16:creationId xmlns:a16="http://schemas.microsoft.com/office/drawing/2014/main" id="{557A850D-5FF8-42B2-A6B9-53293FFD0B33}"/>
              </a:ext>
            </a:extLst>
          </p:cNvPr>
          <p:cNvSpPr>
            <a:spLocks noGrp="1"/>
          </p:cNvSpPr>
          <p:nvPr>
            <p:ph idx="1"/>
          </p:nvPr>
        </p:nvSpPr>
        <p:spPr>
          <a:xfrm>
            <a:off x="838199" y="1825625"/>
            <a:ext cx="10691191" cy="4351338"/>
          </a:xfrm>
        </p:spPr>
        <p:txBody>
          <a:bodyPr>
            <a:normAutofit fontScale="92500" lnSpcReduction="10000"/>
          </a:bodyPr>
          <a:lstStyle/>
          <a:p>
            <a:pPr>
              <a:lnSpc>
                <a:spcPct val="150000"/>
              </a:lnSpc>
            </a:pPr>
            <a:r>
              <a:rPr lang="en-US" sz="2400" dirty="0"/>
              <a:t>Efficiency is the ratio of actual output achieved to standard output expected.</a:t>
            </a:r>
          </a:p>
          <a:p>
            <a:pPr marL="0" indent="0">
              <a:lnSpc>
                <a:spcPct val="150000"/>
              </a:lnSpc>
              <a:buNone/>
            </a:pPr>
            <a:r>
              <a:rPr lang="en-US" sz="2400" dirty="0"/>
              <a:t>	</a:t>
            </a:r>
            <a:r>
              <a:rPr lang="en-US" sz="2400" dirty="0">
                <a:solidFill>
                  <a:srgbClr val="C00000"/>
                </a:solidFill>
              </a:rPr>
              <a:t>Efficiency= actual output achieved / standard output expected</a:t>
            </a:r>
          </a:p>
          <a:p>
            <a:pPr marL="0" indent="0">
              <a:lnSpc>
                <a:spcPct val="150000"/>
              </a:lnSpc>
              <a:buNone/>
            </a:pPr>
            <a:r>
              <a:rPr lang="en-US" sz="2400" dirty="0"/>
              <a:t>   That is, efficiency is concerned with how well the inputs are utilized.</a:t>
            </a:r>
          </a:p>
          <a:p>
            <a:pPr marL="0" indent="0">
              <a:lnSpc>
                <a:spcPct val="150000"/>
              </a:lnSpc>
              <a:buNone/>
            </a:pPr>
            <a:endParaRPr lang="en-US" sz="2400" dirty="0"/>
          </a:p>
          <a:p>
            <a:pPr>
              <a:lnSpc>
                <a:spcPct val="150000"/>
              </a:lnSpc>
            </a:pPr>
            <a:r>
              <a:rPr lang="en-US" sz="2400" dirty="0"/>
              <a:t>Effectiveness is the degree of accomplishment of objectives.</a:t>
            </a:r>
          </a:p>
          <a:p>
            <a:pPr marL="0" indent="0">
              <a:lnSpc>
                <a:spcPct val="150000"/>
              </a:lnSpc>
              <a:buNone/>
            </a:pPr>
            <a:r>
              <a:rPr lang="en-US" sz="2400" dirty="0"/>
              <a:t>   That is, effectiveness is concerned with how well the outputs accomplish their </a:t>
            </a:r>
          </a:p>
          <a:p>
            <a:pPr marL="0" indent="0">
              <a:lnSpc>
                <a:spcPct val="150000"/>
              </a:lnSpc>
              <a:buNone/>
            </a:pPr>
            <a:r>
              <a:rPr lang="en-US" sz="2400" dirty="0"/>
              <a:t>   intended goals.</a:t>
            </a:r>
          </a:p>
          <a:p>
            <a:pPr>
              <a:lnSpc>
                <a:spcPct val="150000"/>
              </a:lnSpc>
            </a:pPr>
            <a:endParaRPr lang="en-US" sz="2400" dirty="0"/>
          </a:p>
          <a:p>
            <a:pPr>
              <a:lnSpc>
                <a:spcPct val="150000"/>
              </a:lnSpc>
            </a:pPr>
            <a:endParaRPr lang="en-US" sz="2400" dirty="0"/>
          </a:p>
          <a:p>
            <a:pPr>
              <a:lnSpc>
                <a:spcPct val="150000"/>
              </a:lnSpc>
            </a:pPr>
            <a:endParaRPr lang="en-IN" sz="2400" dirty="0"/>
          </a:p>
        </p:txBody>
      </p:sp>
    </p:spTree>
    <p:extLst>
      <p:ext uri="{BB962C8B-B14F-4D97-AF65-F5344CB8AC3E}">
        <p14:creationId xmlns:p14="http://schemas.microsoft.com/office/powerpoint/2010/main" val="2753910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BCC3FA8-28BA-4E85-9F04-714275DFCE0B}"/>
                  </a:ext>
                </a:extLst>
              </p:cNvPr>
              <p:cNvSpPr txBox="1"/>
              <p:nvPr/>
            </p:nvSpPr>
            <p:spPr>
              <a:xfrm>
                <a:off x="536713" y="128572"/>
                <a:ext cx="11297478" cy="5808321"/>
              </a:xfrm>
              <a:prstGeom prst="rect">
                <a:avLst/>
              </a:prstGeom>
              <a:noFill/>
            </p:spPr>
            <p:txBody>
              <a:bodyPr wrap="square" rtlCol="0">
                <a:spAutoFit/>
              </a:bodyPr>
              <a:lstStyle/>
              <a:p>
                <a:pPr>
                  <a:lnSpc>
                    <a:spcPct val="150000"/>
                  </a:lnSpc>
                </a:pPr>
                <a:r>
                  <a:rPr lang="en-US" sz="2400" b="1" dirty="0"/>
                  <a:t>Example:</a:t>
                </a:r>
              </a:p>
              <a:p>
                <a:pPr>
                  <a:lnSpc>
                    <a:spcPct val="150000"/>
                  </a:lnSpc>
                </a:pPr>
                <a:r>
                  <a:rPr lang="en-US" sz="2400" dirty="0">
                    <a:solidFill>
                      <a:srgbClr val="C00000"/>
                    </a:solidFill>
                  </a:rPr>
                  <a:t>An operator produced 120 pieces per hour, the standard rate being 180 pieces per hour.  What is the operator efficiency?</a:t>
                </a:r>
                <a:endParaRPr lang="en-US" sz="2400" dirty="0"/>
              </a:p>
              <a:p>
                <a:pPr>
                  <a:lnSpc>
                    <a:spcPct val="150000"/>
                  </a:lnSpc>
                </a:pPr>
                <a:r>
                  <a:rPr lang="en-US" sz="2400" dirty="0"/>
                  <a:t>	Operator Efficiency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120</m:t>
                        </m:r>
                      </m:num>
                      <m:den>
                        <m:r>
                          <a:rPr lang="en-US" sz="2400" b="0" i="1" smtClean="0">
                            <a:latin typeface="Cambria Math" panose="02040503050406030204" pitchFamily="18" charset="0"/>
                          </a:rPr>
                          <m:t>180</m:t>
                        </m:r>
                      </m:den>
                    </m:f>
                    <m:r>
                      <a:rPr lang="en-US" sz="2400" b="0" i="1" smtClean="0">
                        <a:latin typeface="Cambria Math" panose="02040503050406030204" pitchFamily="18" charset="0"/>
                      </a:rPr>
                      <m:t>=66.67 %</m:t>
                    </m:r>
                  </m:oMath>
                </a14:m>
                <a:r>
                  <a:rPr lang="en-IN" sz="2400" dirty="0"/>
                  <a:t>.</a:t>
                </a:r>
                <a:endParaRPr lang="en-US" sz="2400" dirty="0"/>
              </a:p>
              <a:p>
                <a:pPr>
                  <a:lnSpc>
                    <a:spcPct val="150000"/>
                  </a:lnSpc>
                </a:pPr>
                <a:r>
                  <a:rPr lang="en-US" sz="2400" i="1" dirty="0"/>
                  <a:t>(Suppose that 60 % of the produced pieces fail to accomplish their intended functions and could not be sold, and 20 % of the sold pieces malfunctioned within one month of sale.  The customer satisfaction and quality image of the company fell by 50 %)</a:t>
                </a:r>
              </a:p>
              <a:p>
                <a:pPr>
                  <a:lnSpc>
                    <a:spcPct val="150000"/>
                  </a:lnSpc>
                </a:pPr>
                <a:endParaRPr lang="en-US" sz="2400" dirty="0"/>
              </a:p>
              <a:p>
                <a:pPr>
                  <a:lnSpc>
                    <a:spcPct val="150000"/>
                  </a:lnSpc>
                </a:pPr>
                <a:r>
                  <a:rPr lang="en-US" sz="2400" dirty="0"/>
                  <a:t>The operation has a low effectiveness. Both qualitative and quantitative measures are used to signify effectiveness.</a:t>
                </a:r>
                <a:endParaRPr lang="en-IN" sz="2400" dirty="0"/>
              </a:p>
            </p:txBody>
          </p:sp>
        </mc:Choice>
        <mc:Fallback>
          <p:sp>
            <p:nvSpPr>
              <p:cNvPr id="2" name="TextBox 1">
                <a:extLst>
                  <a:ext uri="{FF2B5EF4-FFF2-40B4-BE49-F238E27FC236}">
                    <a16:creationId xmlns:a16="http://schemas.microsoft.com/office/drawing/2014/main" id="{4BCC3FA8-28BA-4E85-9F04-714275DFCE0B}"/>
                  </a:ext>
                </a:extLst>
              </p:cNvPr>
              <p:cNvSpPr txBox="1">
                <a:spLocks noRot="1" noChangeAspect="1" noMove="1" noResize="1" noEditPoints="1" noAdjustHandles="1" noChangeArrowheads="1" noChangeShapeType="1" noTextEdit="1"/>
              </p:cNvSpPr>
              <p:nvPr/>
            </p:nvSpPr>
            <p:spPr>
              <a:xfrm>
                <a:off x="536713" y="128572"/>
                <a:ext cx="11297478" cy="5808321"/>
              </a:xfrm>
              <a:prstGeom prst="rect">
                <a:avLst/>
              </a:prstGeom>
              <a:blipFill>
                <a:blip r:embed="rId2"/>
                <a:stretch>
                  <a:fillRect l="-809" r="-486" b="-1364"/>
                </a:stretch>
              </a:blipFill>
            </p:spPr>
            <p:txBody>
              <a:bodyPr/>
              <a:lstStyle/>
              <a:p>
                <a:r>
                  <a:rPr lang="en-IN">
                    <a:noFill/>
                  </a:rPr>
                  <a:t> </a:t>
                </a:r>
              </a:p>
            </p:txBody>
          </p:sp>
        </mc:Fallback>
      </mc:AlternateContent>
    </p:spTree>
    <p:extLst>
      <p:ext uri="{BB962C8B-B14F-4D97-AF65-F5344CB8AC3E}">
        <p14:creationId xmlns:p14="http://schemas.microsoft.com/office/powerpoint/2010/main" val="413930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ECA1-F307-4F46-9C09-C1EFBE564585}"/>
              </a:ext>
            </a:extLst>
          </p:cNvPr>
          <p:cNvSpPr>
            <a:spLocks noGrp="1"/>
          </p:cNvSpPr>
          <p:nvPr>
            <p:ph type="title"/>
          </p:nvPr>
        </p:nvSpPr>
        <p:spPr>
          <a:xfrm>
            <a:off x="838200" y="214539"/>
            <a:ext cx="10012136" cy="932996"/>
          </a:xfrm>
          <a:solidFill>
            <a:schemeClr val="accent6">
              <a:lumMod val="60000"/>
              <a:lumOff val="40000"/>
            </a:schemeClr>
          </a:solidFill>
        </p:spPr>
        <p:txBody>
          <a:bodyPr/>
          <a:lstStyle/>
          <a:p>
            <a:r>
              <a:rPr lang="en-US" dirty="0"/>
              <a:t>Partial, Total-Factor, and Total Productivity</a:t>
            </a:r>
            <a:endParaRPr lang="en-IN" dirty="0"/>
          </a:p>
        </p:txBody>
      </p:sp>
      <p:sp>
        <p:nvSpPr>
          <p:cNvPr id="3" name="Content Placeholder 2">
            <a:extLst>
              <a:ext uri="{FF2B5EF4-FFF2-40B4-BE49-F238E27FC236}">
                <a16:creationId xmlns:a16="http://schemas.microsoft.com/office/drawing/2014/main" id="{0EF46294-86E8-489C-A3F0-673775474401}"/>
              </a:ext>
            </a:extLst>
          </p:cNvPr>
          <p:cNvSpPr>
            <a:spLocks noGrp="1"/>
          </p:cNvSpPr>
          <p:nvPr>
            <p:ph idx="1"/>
          </p:nvPr>
        </p:nvSpPr>
        <p:spPr>
          <a:xfrm>
            <a:off x="261257" y="1240972"/>
            <a:ext cx="11821886" cy="5402489"/>
          </a:xfrm>
        </p:spPr>
        <p:txBody>
          <a:bodyPr>
            <a:normAutofit/>
          </a:bodyPr>
          <a:lstStyle/>
          <a:p>
            <a:r>
              <a:rPr lang="en-US" dirty="0">
                <a:solidFill>
                  <a:srgbClr val="C00000"/>
                </a:solidFill>
              </a:rPr>
              <a:t>Partial productivity </a:t>
            </a:r>
            <a:r>
              <a:rPr lang="en-US" dirty="0"/>
              <a:t>is the ratio of output to one class of inputs.</a:t>
            </a:r>
          </a:p>
          <a:p>
            <a:pPr marL="0" indent="0">
              <a:buNone/>
            </a:pPr>
            <a:r>
              <a:rPr lang="en-US" dirty="0"/>
              <a:t>      </a:t>
            </a:r>
            <a:r>
              <a:rPr lang="en-US" sz="2400" dirty="0"/>
              <a:t>Examples: Labour productivity, material productivity, Capital productivity</a:t>
            </a:r>
          </a:p>
          <a:p>
            <a:pPr marL="0" indent="0">
              <a:buNone/>
            </a:pPr>
            <a:endParaRPr lang="en-US" dirty="0"/>
          </a:p>
          <a:p>
            <a:r>
              <a:rPr lang="en-US" dirty="0">
                <a:solidFill>
                  <a:srgbClr val="C00000"/>
                </a:solidFill>
              </a:rPr>
              <a:t>Total-Factor Productivity </a:t>
            </a:r>
            <a:r>
              <a:rPr lang="en-US" dirty="0"/>
              <a:t>is the ratio of net output to the sum of the associated </a:t>
            </a:r>
            <a:r>
              <a:rPr lang="en-US" dirty="0" err="1"/>
              <a:t>labour</a:t>
            </a:r>
            <a:r>
              <a:rPr lang="en-US" dirty="0"/>
              <a:t> and capital inputs.</a:t>
            </a:r>
          </a:p>
          <a:p>
            <a:pPr marL="0" indent="0">
              <a:buNone/>
            </a:pPr>
            <a:endParaRPr lang="en-US" dirty="0"/>
          </a:p>
          <a:p>
            <a:pPr marL="0" indent="0">
              <a:buNone/>
            </a:pPr>
            <a:r>
              <a:rPr lang="en-US" dirty="0"/>
              <a:t>      </a:t>
            </a:r>
            <a:r>
              <a:rPr lang="en-US" sz="2400" dirty="0"/>
              <a:t>Net output = Total output – Intermediate goods and services purchased</a:t>
            </a:r>
          </a:p>
          <a:p>
            <a:pPr marL="0" indent="0">
              <a:buNone/>
            </a:pPr>
            <a:endParaRPr lang="en-US" sz="2400" dirty="0"/>
          </a:p>
          <a:p>
            <a:r>
              <a:rPr lang="en-US" dirty="0"/>
              <a:t>Total Productivity is the ratio of total output to the sum of all inputs.</a:t>
            </a:r>
          </a:p>
          <a:p>
            <a:pPr marL="0" indent="0" algn="ctr">
              <a:buNone/>
            </a:pPr>
            <a:r>
              <a:rPr lang="en-US" dirty="0">
                <a:solidFill>
                  <a:srgbClr val="C00000"/>
                </a:solidFill>
              </a:rPr>
              <a:t>Total Productivity=Total output/sum of all inputs</a:t>
            </a:r>
          </a:p>
          <a:p>
            <a:endParaRPr lang="en-US" dirty="0"/>
          </a:p>
          <a:p>
            <a:endParaRPr lang="en-IN" dirty="0"/>
          </a:p>
        </p:txBody>
      </p:sp>
    </p:spTree>
    <p:extLst>
      <p:ext uri="{BB962C8B-B14F-4D97-AF65-F5344CB8AC3E}">
        <p14:creationId xmlns:p14="http://schemas.microsoft.com/office/powerpoint/2010/main" val="1931281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0C36-50B8-4348-A961-85A5D6BFFC31}"/>
              </a:ext>
            </a:extLst>
          </p:cNvPr>
          <p:cNvSpPr>
            <a:spLocks noGrp="1"/>
          </p:cNvSpPr>
          <p:nvPr>
            <p:ph type="title"/>
          </p:nvPr>
        </p:nvSpPr>
        <p:spPr>
          <a:xfrm>
            <a:off x="838200" y="193676"/>
            <a:ext cx="10515600" cy="818696"/>
          </a:xfrm>
          <a:solidFill>
            <a:schemeClr val="accent6">
              <a:lumMod val="60000"/>
              <a:lumOff val="40000"/>
            </a:schemeClr>
          </a:solidFill>
        </p:spPr>
        <p:txBody>
          <a:bodyPr/>
          <a:lstStyle/>
          <a:p>
            <a:r>
              <a:rPr lang="en-US" dirty="0"/>
              <a:t>Real (Monetary) Values of Goods and Services</a:t>
            </a:r>
            <a:endParaRPr lang="en-IN" dirty="0"/>
          </a:p>
        </p:txBody>
      </p:sp>
      <p:sp>
        <p:nvSpPr>
          <p:cNvPr id="3" name="Content Placeholder 2">
            <a:extLst>
              <a:ext uri="{FF2B5EF4-FFF2-40B4-BE49-F238E27FC236}">
                <a16:creationId xmlns:a16="http://schemas.microsoft.com/office/drawing/2014/main" id="{AAC9C55A-5B86-42AA-B303-733F634F7F64}"/>
              </a:ext>
            </a:extLst>
          </p:cNvPr>
          <p:cNvSpPr>
            <a:spLocks noGrp="1"/>
          </p:cNvSpPr>
          <p:nvPr>
            <p:ph idx="1"/>
          </p:nvPr>
        </p:nvSpPr>
        <p:spPr/>
        <p:txBody>
          <a:bodyPr/>
          <a:lstStyle/>
          <a:p>
            <a:pPr>
              <a:lnSpc>
                <a:spcPct val="150000"/>
              </a:lnSpc>
            </a:pPr>
            <a:r>
              <a:rPr lang="en-US" dirty="0"/>
              <a:t>When inputs and outputs are measured in monetary units, these values must be deflated to the base year by dividing them by the price index figures to find their real monetary values.</a:t>
            </a:r>
          </a:p>
          <a:p>
            <a:pPr>
              <a:lnSpc>
                <a:spcPct val="150000"/>
              </a:lnSpc>
            </a:pPr>
            <a:endParaRPr lang="en-IN" dirty="0"/>
          </a:p>
        </p:txBody>
      </p:sp>
    </p:spTree>
    <p:extLst>
      <p:ext uri="{BB962C8B-B14F-4D97-AF65-F5344CB8AC3E}">
        <p14:creationId xmlns:p14="http://schemas.microsoft.com/office/powerpoint/2010/main" val="1697590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72AC544-44A7-43AE-9B25-A7B2F3234C36}"/>
                  </a:ext>
                </a:extLst>
              </p:cNvPr>
              <p:cNvSpPr txBox="1"/>
              <p:nvPr/>
            </p:nvSpPr>
            <p:spPr>
              <a:xfrm>
                <a:off x="649356" y="0"/>
                <a:ext cx="11542644" cy="7033657"/>
              </a:xfrm>
              <a:prstGeom prst="rect">
                <a:avLst/>
              </a:prstGeom>
              <a:noFill/>
            </p:spPr>
            <p:txBody>
              <a:bodyPr wrap="square" rtlCol="0">
                <a:spAutoFit/>
              </a:bodyPr>
              <a:lstStyle/>
              <a:p>
                <a:pPr>
                  <a:lnSpc>
                    <a:spcPct val="150000"/>
                  </a:lnSpc>
                </a:pPr>
                <a:r>
                  <a:rPr lang="en-US" sz="2200" b="1" dirty="0"/>
                  <a:t>Example</a:t>
                </a:r>
                <a:r>
                  <a:rPr lang="en-US" sz="2200" dirty="0"/>
                  <a:t>: 2</a:t>
                </a:r>
              </a:p>
              <a:p>
                <a:pPr>
                  <a:lnSpc>
                    <a:spcPct val="150000"/>
                  </a:lnSpc>
                </a:pPr>
                <a:r>
                  <a:rPr lang="en-US" sz="2200" dirty="0">
                    <a:solidFill>
                      <a:srgbClr val="C00000"/>
                    </a:solidFill>
                  </a:rPr>
                  <a:t>A company bought 10 pieces of MS plate in 2022 by paying Rs.121,000, used 5 of these pieces in 2024 to produce goods, some of which were sold in the same year for Rs.100,000 and the remaining goods Rs.100,000 in the next year.  Labour cost to produce these goods was Rs.20,000.  Energy and other costs apportioned to the produced goods equal Rs.12,000.  Find the productivity.</a:t>
                </a:r>
              </a:p>
              <a:p>
                <a:pPr>
                  <a:lnSpc>
                    <a:spcPct val="150000"/>
                  </a:lnSpc>
                </a:pPr>
                <a:r>
                  <a:rPr lang="en-US" sz="2200" dirty="0">
                    <a:solidFill>
                      <a:srgbClr val="C00000"/>
                    </a:solidFill>
                  </a:rPr>
                  <a:t>2020 is the base year.  Price index figures for next 5 years are 105, 110, 115, 120, and 125.</a:t>
                </a:r>
              </a:p>
              <a:p>
                <a:pPr>
                  <a:lnSpc>
                    <a:spcPct val="150000"/>
                  </a:lnSpc>
                </a:pPr>
                <a:r>
                  <a:rPr lang="en-US" sz="2200" dirty="0"/>
                  <a:t>Real cost of materials used (incurred in 2022) = </a:t>
                </a:r>
                <a14:m>
                  <m:oMath xmlns:m="http://schemas.openxmlformats.org/officeDocument/2006/math">
                    <m:r>
                      <a:rPr lang="en-US" sz="2200" b="0" i="1" smtClean="0">
                        <a:latin typeface="Cambria Math" panose="02040503050406030204" pitchFamily="18" charset="0"/>
                      </a:rPr>
                      <m:t>121,000</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5</m:t>
                        </m:r>
                      </m:num>
                      <m:den>
                        <m:r>
                          <a:rPr lang="en-US" sz="2200" b="0" i="1" smtClean="0">
                            <a:latin typeface="Cambria Math" panose="02040503050406030204" pitchFamily="18" charset="0"/>
                            <a:ea typeface="Cambria Math" panose="02040503050406030204" pitchFamily="18" charset="0"/>
                          </a:rPr>
                          <m:t>10</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100</m:t>
                        </m:r>
                      </m:num>
                      <m:den>
                        <m:r>
                          <a:rPr lang="en-US" sz="2200" b="0" i="1" smtClean="0">
                            <a:latin typeface="Cambria Math" panose="02040503050406030204" pitchFamily="18" charset="0"/>
                            <a:ea typeface="Cambria Math" panose="02040503050406030204" pitchFamily="18" charset="0"/>
                          </a:rPr>
                          <m:t>110</m:t>
                        </m:r>
                      </m:den>
                    </m:f>
                    <m:r>
                      <a:rPr lang="en-US" sz="2200" b="0" i="1" smtClean="0">
                        <a:latin typeface="Cambria Math" panose="02040503050406030204" pitchFamily="18" charset="0"/>
                        <a:ea typeface="Cambria Math" panose="02040503050406030204" pitchFamily="18" charset="0"/>
                      </a:rPr>
                      <m:t>=55,000</m:t>
                    </m:r>
                  </m:oMath>
                </a14:m>
                <a:r>
                  <a:rPr lang="en-US" sz="2200" dirty="0"/>
                  <a:t> Rs.</a:t>
                </a:r>
              </a:p>
              <a:p>
                <a:pPr>
                  <a:lnSpc>
                    <a:spcPct val="150000"/>
                  </a:lnSpc>
                </a:pPr>
                <a:r>
                  <a:rPr lang="en-US" sz="2200" dirty="0"/>
                  <a:t>Real cost of </a:t>
                </a:r>
                <a:r>
                  <a:rPr lang="en-US" sz="2200" dirty="0" err="1"/>
                  <a:t>labour</a:t>
                </a:r>
                <a:r>
                  <a:rPr lang="en-US" sz="2200" dirty="0"/>
                  <a:t>, energy and other costs (incurred in 2024) =</a:t>
                </a:r>
                <a14:m>
                  <m:oMath xmlns:m="http://schemas.openxmlformats.org/officeDocument/2006/math">
                    <m:r>
                      <a:rPr lang="en-US" sz="2200">
                        <a:latin typeface="Cambria Math" panose="02040503050406030204" pitchFamily="18" charset="0"/>
                      </a:rPr>
                      <m:t>3</m:t>
                    </m:r>
                    <m:r>
                      <a:rPr lang="en-US" sz="2200" b="0" i="0" smtClean="0">
                        <a:latin typeface="Cambria Math" panose="02040503050406030204" pitchFamily="18" charset="0"/>
                      </a:rPr>
                      <m:t>2,000</m:t>
                    </m:r>
                    <m:r>
                      <a:rPr lang="en-US" sz="2200" b="0" i="1" smtClean="0">
                        <a:latin typeface="Cambria Math" panose="02040503050406030204" pitchFamily="18" charset="0"/>
                        <a:ea typeface="Cambria Math" panose="02040503050406030204" pitchFamily="18" charset="0"/>
                      </a:rPr>
                      <m:t>×</m:t>
                    </m:r>
                    <m:f>
                      <m:fPr>
                        <m:ctrlPr>
                          <a:rPr lang="en-US" sz="2200" i="1" smtClean="0">
                            <a:latin typeface="Cambria Math" panose="02040503050406030204" pitchFamily="18" charset="0"/>
                          </a:rPr>
                        </m:ctrlPr>
                      </m:fPr>
                      <m:num>
                        <m:r>
                          <a:rPr lang="en-US" sz="2200" b="0" i="1" smtClean="0">
                            <a:latin typeface="Cambria Math" panose="02040503050406030204" pitchFamily="18" charset="0"/>
                          </a:rPr>
                          <m:t>100</m:t>
                        </m:r>
                      </m:num>
                      <m:den>
                        <m:r>
                          <a:rPr lang="en-US" sz="2200" b="0" i="1" smtClean="0">
                            <a:latin typeface="Cambria Math" panose="02040503050406030204" pitchFamily="18" charset="0"/>
                          </a:rPr>
                          <m:t>120</m:t>
                        </m:r>
                      </m:den>
                    </m:f>
                    <m:r>
                      <a:rPr lang="en-US" sz="2200" b="0" i="1" smtClean="0">
                        <a:latin typeface="Cambria Math" panose="02040503050406030204" pitchFamily="18" charset="0"/>
                      </a:rPr>
                      <m:t>=26,667</m:t>
                    </m:r>
                  </m:oMath>
                </a14:m>
                <a:r>
                  <a:rPr lang="en-US" sz="2200" dirty="0"/>
                  <a:t> Rs.</a:t>
                </a:r>
              </a:p>
              <a:p>
                <a:pPr>
                  <a:lnSpc>
                    <a:spcPct val="150000"/>
                  </a:lnSpc>
                </a:pPr>
                <a:r>
                  <a:rPr lang="en-US" sz="2200" dirty="0"/>
                  <a:t>Sales Revenue (realized in 2024) = </a:t>
                </a:r>
                <a14:m>
                  <m:oMath xmlns:m="http://schemas.openxmlformats.org/officeDocument/2006/math">
                    <m:r>
                      <a:rPr lang="en-US" sz="2200" b="0" i="1" smtClean="0">
                        <a:latin typeface="Cambria Math" panose="02040503050406030204" pitchFamily="18" charset="0"/>
                      </a:rPr>
                      <m:t>100,000</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100</m:t>
                        </m:r>
                      </m:num>
                      <m:den>
                        <m:r>
                          <a:rPr lang="en-US" sz="2200" b="0" i="1" smtClean="0">
                            <a:latin typeface="Cambria Math" panose="02040503050406030204" pitchFamily="18" charset="0"/>
                            <a:ea typeface="Cambria Math" panose="02040503050406030204" pitchFamily="18" charset="0"/>
                          </a:rPr>
                          <m:t>120</m:t>
                        </m:r>
                      </m:den>
                    </m:f>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100,000</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100</m:t>
                        </m:r>
                      </m:num>
                      <m:den>
                        <m:r>
                          <a:rPr lang="en-US" sz="2200" b="0" i="1" smtClean="0">
                            <a:latin typeface="Cambria Math" panose="02040503050406030204" pitchFamily="18" charset="0"/>
                            <a:ea typeface="Cambria Math" panose="02040503050406030204" pitchFamily="18" charset="0"/>
                          </a:rPr>
                          <m:t>125</m:t>
                        </m:r>
                      </m:den>
                    </m:f>
                    <m:r>
                      <a:rPr lang="en-US" sz="2200" b="0" i="1" smtClean="0">
                        <a:latin typeface="Cambria Math" panose="02040503050406030204" pitchFamily="18" charset="0"/>
                        <a:ea typeface="Cambria Math" panose="02040503050406030204" pitchFamily="18" charset="0"/>
                      </a:rPr>
                      <m:t>=163,667</m:t>
                    </m:r>
                  </m:oMath>
                </a14:m>
                <a:r>
                  <a:rPr lang="en-US" sz="2200" dirty="0"/>
                  <a:t> Rs.</a:t>
                </a:r>
              </a:p>
              <a:p>
                <a:pPr>
                  <a:lnSpc>
                    <a:spcPct val="150000"/>
                  </a:lnSpc>
                </a:pPr>
                <a:r>
                  <a:rPr lang="en-US" sz="2200" dirty="0"/>
                  <a:t>Productivity = </a:t>
                </a:r>
                <a14:m>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panose="02040503050406030204" pitchFamily="18" charset="0"/>
                          </a:rPr>
                          <m:t>163,667</m:t>
                        </m:r>
                      </m:num>
                      <m:den>
                        <m:r>
                          <a:rPr lang="en-US" sz="2200" b="0" i="1" smtClean="0">
                            <a:latin typeface="Cambria Math" panose="02040503050406030204" pitchFamily="18" charset="0"/>
                          </a:rPr>
                          <m:t>55,000+26,667</m:t>
                        </m:r>
                      </m:den>
                    </m:f>
                    <m:r>
                      <a:rPr lang="en-US" sz="2200" b="0" i="1" smtClean="0">
                        <a:latin typeface="Cambria Math" panose="02040503050406030204" pitchFamily="18" charset="0"/>
                      </a:rPr>
                      <m:t>=2.004</m:t>
                    </m:r>
                  </m:oMath>
                </a14:m>
                <a:r>
                  <a:rPr lang="en-US" sz="2200" dirty="0"/>
                  <a:t>.  </a:t>
                </a:r>
              </a:p>
              <a:p>
                <a:pPr>
                  <a:lnSpc>
                    <a:spcPct val="150000"/>
                  </a:lnSpc>
                </a:pPr>
                <a:r>
                  <a:rPr lang="en-US" sz="2200" dirty="0"/>
                  <a:t>This figure should be compared with productivity figure in the base year.</a:t>
                </a:r>
              </a:p>
              <a:p>
                <a:pPr>
                  <a:lnSpc>
                    <a:spcPct val="150000"/>
                  </a:lnSpc>
                </a:pPr>
                <a:endParaRPr lang="en-IN" sz="2200" dirty="0"/>
              </a:p>
            </p:txBody>
          </p:sp>
        </mc:Choice>
        <mc:Fallback>
          <p:sp>
            <p:nvSpPr>
              <p:cNvPr id="2" name="TextBox 1">
                <a:extLst>
                  <a:ext uri="{FF2B5EF4-FFF2-40B4-BE49-F238E27FC236}">
                    <a16:creationId xmlns:a16="http://schemas.microsoft.com/office/drawing/2014/main" id="{172AC544-44A7-43AE-9B25-A7B2F3234C36}"/>
                  </a:ext>
                </a:extLst>
              </p:cNvPr>
              <p:cNvSpPr txBox="1">
                <a:spLocks noRot="1" noChangeAspect="1" noMove="1" noResize="1" noEditPoints="1" noAdjustHandles="1" noChangeArrowheads="1" noChangeShapeType="1" noTextEdit="1"/>
              </p:cNvSpPr>
              <p:nvPr/>
            </p:nvSpPr>
            <p:spPr>
              <a:xfrm>
                <a:off x="649356" y="0"/>
                <a:ext cx="11542644" cy="7033657"/>
              </a:xfrm>
              <a:prstGeom prst="rect">
                <a:avLst/>
              </a:prstGeom>
              <a:blipFill>
                <a:blip r:embed="rId2"/>
                <a:stretch>
                  <a:fillRect l="-687" r="-1109"/>
                </a:stretch>
              </a:blipFill>
            </p:spPr>
            <p:txBody>
              <a:bodyPr/>
              <a:lstStyle/>
              <a:p>
                <a:r>
                  <a:rPr lang="en-IN">
                    <a:noFill/>
                  </a:rPr>
                  <a:t> </a:t>
                </a:r>
              </a:p>
            </p:txBody>
          </p:sp>
        </mc:Fallback>
      </mc:AlternateContent>
    </p:spTree>
    <p:extLst>
      <p:ext uri="{BB962C8B-B14F-4D97-AF65-F5344CB8AC3E}">
        <p14:creationId xmlns:p14="http://schemas.microsoft.com/office/powerpoint/2010/main" val="62790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C2F319F-0C99-48AE-B233-BCC69C3D0B8B}"/>
                  </a:ext>
                </a:extLst>
              </p:cNvPr>
              <p:cNvSpPr txBox="1"/>
              <p:nvPr/>
            </p:nvSpPr>
            <p:spPr>
              <a:xfrm>
                <a:off x="424070" y="397564"/>
                <a:ext cx="11340666" cy="6288453"/>
              </a:xfrm>
              <a:prstGeom prst="rect">
                <a:avLst/>
              </a:prstGeom>
              <a:noFill/>
            </p:spPr>
            <p:txBody>
              <a:bodyPr wrap="square" rtlCol="0">
                <a:spAutoFit/>
              </a:bodyPr>
              <a:lstStyle/>
              <a:p>
                <a:r>
                  <a:rPr lang="en-US" sz="2000" b="1" dirty="0"/>
                  <a:t>Example</a:t>
                </a:r>
                <a:r>
                  <a:rPr lang="en-US" sz="2000" dirty="0"/>
                  <a:t>: </a:t>
                </a:r>
                <a:r>
                  <a:rPr lang="en-US" sz="2000" dirty="0">
                    <a:solidFill>
                      <a:srgbClr val="C00000"/>
                    </a:solidFill>
                  </a:rPr>
                  <a:t>Consider the following real monetary values w. r. t. a base year for a company:</a:t>
                </a:r>
              </a:p>
              <a:p>
                <a:endParaRPr lang="en-US" sz="2000" dirty="0">
                  <a:solidFill>
                    <a:srgbClr val="C00000"/>
                  </a:solidFill>
                </a:endParaRPr>
              </a:p>
              <a:p>
                <a:r>
                  <a:rPr lang="en-US" sz="2000" dirty="0">
                    <a:solidFill>
                      <a:srgbClr val="C00000"/>
                    </a:solidFill>
                  </a:rPr>
                  <a:t>	Output = Rs.1000.	Labour Input = Rs.300.	Material input = Rs.200</a:t>
                </a:r>
              </a:p>
              <a:p>
                <a:r>
                  <a:rPr lang="en-US" sz="2000" dirty="0">
                    <a:solidFill>
                      <a:srgbClr val="C00000"/>
                    </a:solidFill>
                  </a:rPr>
                  <a:t>	Capital input = Rs.300. Energy input = Rs.100.	Other expense input = Rs.50</a:t>
                </a:r>
              </a:p>
              <a:p>
                <a:endParaRPr lang="en-US" sz="2000" dirty="0"/>
              </a:p>
              <a:p>
                <a:pPr>
                  <a:lnSpc>
                    <a:spcPct val="150000"/>
                  </a:lnSpc>
                </a:pPr>
                <a:r>
                  <a:rPr lang="en-US" sz="2000" dirty="0">
                    <a:solidFill>
                      <a:srgbClr val="00B050"/>
                    </a:solidFill>
                  </a:rPr>
                  <a:t>Labour Productivity = </a:t>
                </a:r>
                <a14:m>
                  <m:oMath xmlns:m="http://schemas.openxmlformats.org/officeDocument/2006/math">
                    <m:f>
                      <m:fPr>
                        <m:ctrlPr>
                          <a:rPr lang="en-US" sz="2000" i="1" smtClean="0">
                            <a:solidFill>
                              <a:srgbClr val="00B050"/>
                            </a:solidFill>
                            <a:latin typeface="Cambria Math" panose="02040503050406030204" pitchFamily="18" charset="0"/>
                          </a:rPr>
                        </m:ctrlPr>
                      </m:fPr>
                      <m:num>
                        <m:r>
                          <a:rPr lang="en-US" sz="2000" b="0" i="1" smtClean="0">
                            <a:solidFill>
                              <a:srgbClr val="00B050"/>
                            </a:solidFill>
                            <a:latin typeface="Cambria Math" panose="02040503050406030204" pitchFamily="18" charset="0"/>
                          </a:rPr>
                          <m:t>1000</m:t>
                        </m:r>
                      </m:num>
                      <m:den>
                        <m:r>
                          <a:rPr lang="en-US" sz="2000" b="0" i="1" smtClean="0">
                            <a:solidFill>
                              <a:srgbClr val="00B050"/>
                            </a:solidFill>
                            <a:latin typeface="Cambria Math" panose="02040503050406030204" pitchFamily="18" charset="0"/>
                          </a:rPr>
                          <m:t>300</m:t>
                        </m:r>
                      </m:den>
                    </m:f>
                    <m:r>
                      <a:rPr lang="en-US" sz="2000" b="0" i="1" smtClean="0">
                        <a:solidFill>
                          <a:srgbClr val="00B050"/>
                        </a:solidFill>
                        <a:latin typeface="Cambria Math" panose="02040503050406030204" pitchFamily="18" charset="0"/>
                      </a:rPr>
                      <m:t>=3.33; </m:t>
                    </m:r>
                    <m:r>
                      <m:rPr>
                        <m:nor/>
                      </m:rPr>
                      <a:rPr lang="en-US" sz="2000" b="0" i="0" dirty="0" smtClean="0">
                        <a:solidFill>
                          <a:srgbClr val="00B050"/>
                        </a:solidFill>
                      </a:rPr>
                      <m:t>Material</m:t>
                    </m:r>
                    <m:r>
                      <m:rPr>
                        <m:nor/>
                      </m:rPr>
                      <a:rPr lang="en-US" sz="2000" dirty="0" smtClean="0">
                        <a:solidFill>
                          <a:srgbClr val="00B050"/>
                        </a:solidFill>
                      </a:rPr>
                      <m:t> </m:t>
                    </m:r>
                    <m:r>
                      <m:rPr>
                        <m:nor/>
                      </m:rPr>
                      <a:rPr lang="en-US" sz="2000" b="0" i="0" dirty="0" smtClean="0">
                        <a:solidFill>
                          <a:srgbClr val="00B050"/>
                        </a:solidFill>
                      </a:rPr>
                      <m:t>P</m:t>
                    </m:r>
                    <m:r>
                      <m:rPr>
                        <m:nor/>
                      </m:rPr>
                      <a:rPr lang="en-US" sz="2000" dirty="0" smtClean="0">
                        <a:solidFill>
                          <a:srgbClr val="00B050"/>
                        </a:solidFill>
                      </a:rPr>
                      <m:t>roductivity</m:t>
                    </m:r>
                    <m:r>
                      <m:rPr>
                        <m:nor/>
                      </m:rPr>
                      <a:rPr lang="en-US" sz="2000" dirty="0" smtClean="0">
                        <a:solidFill>
                          <a:srgbClr val="00B050"/>
                        </a:solidFill>
                      </a:rPr>
                      <m:t> = </m:t>
                    </m:r>
                    <m:f>
                      <m:fPr>
                        <m:ctrlPr>
                          <a:rPr lang="en-US" sz="2000" i="1" smtClean="0">
                            <a:solidFill>
                              <a:srgbClr val="00B050"/>
                            </a:solidFill>
                            <a:latin typeface="Cambria Math" panose="02040503050406030204" pitchFamily="18" charset="0"/>
                          </a:rPr>
                        </m:ctrlPr>
                      </m:fPr>
                      <m:num>
                        <m:r>
                          <a:rPr lang="en-US" sz="2000" b="0" i="1" smtClean="0">
                            <a:solidFill>
                              <a:srgbClr val="00B050"/>
                            </a:solidFill>
                            <a:latin typeface="Cambria Math" panose="02040503050406030204" pitchFamily="18" charset="0"/>
                          </a:rPr>
                          <m:t>1000</m:t>
                        </m:r>
                      </m:num>
                      <m:den>
                        <m:r>
                          <a:rPr lang="en-US" sz="2000" b="0" i="1" smtClean="0">
                            <a:solidFill>
                              <a:srgbClr val="00B050"/>
                            </a:solidFill>
                            <a:latin typeface="Cambria Math" panose="02040503050406030204" pitchFamily="18" charset="0"/>
                          </a:rPr>
                          <m:t>200</m:t>
                        </m:r>
                      </m:den>
                    </m:f>
                    <m:r>
                      <a:rPr lang="en-US" sz="2000" b="0" i="1" smtClean="0">
                        <a:solidFill>
                          <a:srgbClr val="00B050"/>
                        </a:solidFill>
                        <a:latin typeface="Cambria Math" panose="02040503050406030204" pitchFamily="18" charset="0"/>
                      </a:rPr>
                      <m:t>=5.00</m:t>
                    </m:r>
                  </m:oMath>
                </a14:m>
                <a:endParaRPr lang="en-IN" sz="2000" dirty="0">
                  <a:solidFill>
                    <a:srgbClr val="00B050"/>
                  </a:solidFill>
                </a:endParaRPr>
              </a:p>
              <a:p>
                <a:pPr>
                  <a:lnSpc>
                    <a:spcPct val="150000"/>
                  </a:lnSpc>
                </a:pPr>
                <a:r>
                  <a:rPr lang="en-US" sz="2000" dirty="0">
                    <a:solidFill>
                      <a:srgbClr val="00B050"/>
                    </a:solidFill>
                  </a:rPr>
                  <a:t>C</a:t>
                </a:r>
                <a:r>
                  <a:rPr lang="en-IN" sz="2000" dirty="0" err="1">
                    <a:solidFill>
                      <a:srgbClr val="00B050"/>
                    </a:solidFill>
                  </a:rPr>
                  <a:t>apital</a:t>
                </a:r>
                <a:r>
                  <a:rPr lang="en-IN" sz="2000" dirty="0">
                    <a:solidFill>
                      <a:srgbClr val="00B050"/>
                    </a:solidFill>
                  </a:rPr>
                  <a:t> Productivity = </a:t>
                </a:r>
                <a14:m>
                  <m:oMath xmlns:m="http://schemas.openxmlformats.org/officeDocument/2006/math">
                    <m:f>
                      <m:fPr>
                        <m:ctrlPr>
                          <a:rPr lang="en-US" sz="2000" i="1" smtClean="0">
                            <a:solidFill>
                              <a:srgbClr val="00B050"/>
                            </a:solidFill>
                            <a:latin typeface="Cambria Math" panose="02040503050406030204" pitchFamily="18" charset="0"/>
                          </a:rPr>
                        </m:ctrlPr>
                      </m:fPr>
                      <m:num>
                        <m:r>
                          <a:rPr lang="en-US" sz="2000" b="0" i="1" smtClean="0">
                            <a:solidFill>
                              <a:srgbClr val="00B050"/>
                            </a:solidFill>
                            <a:latin typeface="Cambria Math" panose="02040503050406030204" pitchFamily="18" charset="0"/>
                          </a:rPr>
                          <m:t>1000</m:t>
                        </m:r>
                      </m:num>
                      <m:den>
                        <m:r>
                          <a:rPr lang="en-US" sz="2000" b="0" i="1" smtClean="0">
                            <a:solidFill>
                              <a:srgbClr val="00B050"/>
                            </a:solidFill>
                            <a:latin typeface="Cambria Math" panose="02040503050406030204" pitchFamily="18" charset="0"/>
                          </a:rPr>
                          <m:t>300</m:t>
                        </m:r>
                      </m:den>
                    </m:f>
                    <m:r>
                      <a:rPr lang="en-US" sz="2000" b="0" i="1" smtClean="0">
                        <a:solidFill>
                          <a:srgbClr val="00B050"/>
                        </a:solidFill>
                        <a:latin typeface="Cambria Math" panose="02040503050406030204" pitchFamily="18" charset="0"/>
                      </a:rPr>
                      <m:t>=3.33; </m:t>
                    </m:r>
                    <m:r>
                      <m:rPr>
                        <m:nor/>
                      </m:rPr>
                      <a:rPr lang="en-US" sz="2000" b="0" i="0" dirty="0" smtClean="0">
                        <a:solidFill>
                          <a:srgbClr val="00B050"/>
                        </a:solidFill>
                      </a:rPr>
                      <m:t>Energy</m:t>
                    </m:r>
                    <m:r>
                      <m:rPr>
                        <m:nor/>
                      </m:rPr>
                      <a:rPr lang="en-US" sz="2000" dirty="0" smtClean="0">
                        <a:solidFill>
                          <a:srgbClr val="00B050"/>
                        </a:solidFill>
                      </a:rPr>
                      <m:t> </m:t>
                    </m:r>
                    <m:r>
                      <m:rPr>
                        <m:nor/>
                      </m:rPr>
                      <a:rPr lang="en-US" sz="2000" b="0" i="0" dirty="0" smtClean="0">
                        <a:solidFill>
                          <a:srgbClr val="00B050"/>
                        </a:solidFill>
                      </a:rPr>
                      <m:t>P</m:t>
                    </m:r>
                    <m:r>
                      <m:rPr>
                        <m:nor/>
                      </m:rPr>
                      <a:rPr lang="en-US" sz="2000" dirty="0" smtClean="0">
                        <a:solidFill>
                          <a:srgbClr val="00B050"/>
                        </a:solidFill>
                      </a:rPr>
                      <m:t>roductivity</m:t>
                    </m:r>
                    <m:r>
                      <m:rPr>
                        <m:nor/>
                      </m:rPr>
                      <a:rPr lang="en-US" sz="2000" dirty="0" smtClean="0">
                        <a:solidFill>
                          <a:srgbClr val="00B050"/>
                        </a:solidFill>
                      </a:rPr>
                      <m:t> = </m:t>
                    </m:r>
                    <m:f>
                      <m:fPr>
                        <m:ctrlPr>
                          <a:rPr lang="en-US" sz="2000" i="1" smtClean="0">
                            <a:solidFill>
                              <a:srgbClr val="00B050"/>
                            </a:solidFill>
                            <a:latin typeface="Cambria Math" panose="02040503050406030204" pitchFamily="18" charset="0"/>
                          </a:rPr>
                        </m:ctrlPr>
                      </m:fPr>
                      <m:num>
                        <m:r>
                          <a:rPr lang="en-US" sz="2000" b="0" i="1" smtClean="0">
                            <a:solidFill>
                              <a:srgbClr val="00B050"/>
                            </a:solidFill>
                            <a:latin typeface="Cambria Math" panose="02040503050406030204" pitchFamily="18" charset="0"/>
                          </a:rPr>
                          <m:t>1000</m:t>
                        </m:r>
                      </m:num>
                      <m:den>
                        <m:r>
                          <a:rPr lang="en-US" sz="2000" b="0" i="1" smtClean="0">
                            <a:solidFill>
                              <a:srgbClr val="00B050"/>
                            </a:solidFill>
                            <a:latin typeface="Cambria Math" panose="02040503050406030204" pitchFamily="18" charset="0"/>
                          </a:rPr>
                          <m:t>100</m:t>
                        </m:r>
                      </m:den>
                    </m:f>
                    <m:r>
                      <a:rPr lang="en-US" sz="2000" b="0" i="1" smtClean="0">
                        <a:solidFill>
                          <a:srgbClr val="00B050"/>
                        </a:solidFill>
                        <a:latin typeface="Cambria Math" panose="02040503050406030204" pitchFamily="18" charset="0"/>
                      </a:rPr>
                      <m:t>=10.00</m:t>
                    </m:r>
                    <m:r>
                      <m:rPr>
                        <m:nor/>
                      </m:rPr>
                      <a:rPr lang="en-US" sz="2000" b="0" i="0" smtClean="0">
                        <a:solidFill>
                          <a:srgbClr val="00B050"/>
                        </a:solidFill>
                        <a:latin typeface="Cambria Math" panose="02040503050406030204" pitchFamily="18" charset="0"/>
                      </a:rPr>
                      <m:t>O</m:t>
                    </m:r>
                    <m:r>
                      <m:rPr>
                        <m:nor/>
                      </m:rPr>
                      <a:rPr lang="en-US" sz="2000" b="0" i="0" smtClean="0">
                        <a:solidFill>
                          <a:srgbClr val="00B050"/>
                        </a:solidFill>
                        <a:latin typeface="Cambria Math" panose="02040503050406030204" pitchFamily="18" charset="0"/>
                      </a:rPr>
                      <m:t>                     </m:t>
                    </m:r>
                  </m:oMath>
                </a14:m>
                <a:endParaRPr lang="en-US" sz="2000" b="0" i="0" dirty="0">
                  <a:solidFill>
                    <a:srgbClr val="00B050"/>
                  </a:solidFill>
                  <a:latin typeface="Cambria Math" panose="02040503050406030204" pitchFamily="18" charset="0"/>
                </a:endParaRPr>
              </a:p>
              <a:p>
                <a:pPr>
                  <a:lnSpc>
                    <a:spcPct val="150000"/>
                  </a:lnSpc>
                </a:pPr>
                <a14:m>
                  <m:oMath xmlns:m="http://schemas.openxmlformats.org/officeDocument/2006/math">
                    <m:r>
                      <m:rPr>
                        <m:nor/>
                      </m:rPr>
                      <a:rPr lang="en-US" sz="2000" b="0" i="0" smtClean="0">
                        <a:solidFill>
                          <a:srgbClr val="00B050"/>
                        </a:solidFill>
                        <a:latin typeface="Cambria Math" panose="02040503050406030204" pitchFamily="18" charset="0"/>
                      </a:rPr>
                      <m:t>Other</m:t>
                    </m:r>
                    <m:r>
                      <m:rPr>
                        <m:nor/>
                      </m:rPr>
                      <a:rPr lang="en-US" sz="2000" b="0" i="0" smtClean="0">
                        <a:solidFill>
                          <a:srgbClr val="00B050"/>
                        </a:solidFill>
                        <a:latin typeface="Cambria Math" panose="02040503050406030204" pitchFamily="18" charset="0"/>
                      </a:rPr>
                      <m:t> </m:t>
                    </m:r>
                    <m:r>
                      <m:rPr>
                        <m:nor/>
                      </m:rPr>
                      <a:rPr lang="en-US" sz="2000" b="0" i="0" smtClean="0">
                        <a:solidFill>
                          <a:srgbClr val="00B050"/>
                        </a:solidFill>
                        <a:latin typeface="Cambria Math" panose="02040503050406030204" pitchFamily="18" charset="0"/>
                      </a:rPr>
                      <m:t>Expenses</m:t>
                    </m:r>
                    <m:r>
                      <m:rPr>
                        <m:nor/>
                      </m:rPr>
                      <a:rPr lang="en-US" sz="2000" b="0" i="0" smtClean="0">
                        <a:solidFill>
                          <a:srgbClr val="00B050"/>
                        </a:solidFill>
                        <a:latin typeface="Cambria Math" panose="02040503050406030204" pitchFamily="18" charset="0"/>
                      </a:rPr>
                      <m:t> </m:t>
                    </m:r>
                    <m:r>
                      <m:rPr>
                        <m:nor/>
                      </m:rPr>
                      <a:rPr lang="en-US" sz="2000" b="0" i="0" dirty="0" smtClean="0">
                        <a:solidFill>
                          <a:srgbClr val="00B050"/>
                        </a:solidFill>
                      </a:rPr>
                      <m:t>P</m:t>
                    </m:r>
                    <m:r>
                      <m:rPr>
                        <m:nor/>
                      </m:rPr>
                      <a:rPr lang="en-US" sz="2000" dirty="0" smtClean="0">
                        <a:solidFill>
                          <a:srgbClr val="00B050"/>
                        </a:solidFill>
                      </a:rPr>
                      <m:t>roductivity</m:t>
                    </m:r>
                    <m:r>
                      <m:rPr>
                        <m:nor/>
                      </m:rPr>
                      <a:rPr lang="en-US" sz="2000" dirty="0" smtClean="0">
                        <a:solidFill>
                          <a:srgbClr val="00B050"/>
                        </a:solidFill>
                      </a:rPr>
                      <m:t> = </m:t>
                    </m:r>
                    <m:f>
                      <m:fPr>
                        <m:ctrlPr>
                          <a:rPr lang="en-US" sz="2000" i="1" smtClean="0">
                            <a:solidFill>
                              <a:srgbClr val="00B050"/>
                            </a:solidFill>
                            <a:latin typeface="Cambria Math" panose="02040503050406030204" pitchFamily="18" charset="0"/>
                          </a:rPr>
                        </m:ctrlPr>
                      </m:fPr>
                      <m:num>
                        <m:r>
                          <a:rPr lang="en-US" sz="2000" b="0" i="1" smtClean="0">
                            <a:solidFill>
                              <a:srgbClr val="00B050"/>
                            </a:solidFill>
                            <a:latin typeface="Cambria Math" panose="02040503050406030204" pitchFamily="18" charset="0"/>
                          </a:rPr>
                          <m:t>1000</m:t>
                        </m:r>
                      </m:num>
                      <m:den>
                        <m:r>
                          <a:rPr lang="en-US" sz="2000" b="0" i="1" smtClean="0">
                            <a:solidFill>
                              <a:srgbClr val="00B050"/>
                            </a:solidFill>
                            <a:latin typeface="Cambria Math" panose="02040503050406030204" pitchFamily="18" charset="0"/>
                          </a:rPr>
                          <m:t>50</m:t>
                        </m:r>
                      </m:den>
                    </m:f>
                    <m:r>
                      <a:rPr lang="en-US" sz="2000" b="0" i="1" smtClean="0">
                        <a:solidFill>
                          <a:srgbClr val="00B050"/>
                        </a:solidFill>
                        <a:latin typeface="Cambria Math" panose="02040503050406030204" pitchFamily="18" charset="0"/>
                      </a:rPr>
                      <m:t>=20.00</m:t>
                    </m:r>
                  </m:oMath>
                </a14:m>
                <a:r>
                  <a:rPr lang="en-IN" sz="2000" dirty="0">
                    <a:solidFill>
                      <a:srgbClr val="00B050"/>
                    </a:solidFill>
                  </a:rPr>
                  <a:t>; </a:t>
                </a:r>
              </a:p>
              <a:p>
                <a:pPr>
                  <a:lnSpc>
                    <a:spcPct val="150000"/>
                  </a:lnSpc>
                </a:pPr>
                <a:r>
                  <a:rPr lang="en-IN" sz="2000" dirty="0">
                    <a:solidFill>
                      <a:srgbClr val="7030A0"/>
                    </a:solidFill>
                  </a:rPr>
                  <a:t>Total Factor Productivity</a:t>
                </a:r>
                <a:r>
                  <a:rPr lang="en-US" sz="2000" dirty="0">
                    <a:solidFill>
                      <a:srgbClr val="7030A0"/>
                    </a:solidFill>
                  </a:rPr>
                  <a:t> = </a:t>
                </a:r>
                <a14:m>
                  <m:oMath xmlns:m="http://schemas.openxmlformats.org/officeDocument/2006/math">
                    <m:f>
                      <m:fPr>
                        <m:ctrlPr>
                          <a:rPr lang="en-US" sz="2000" i="1" smtClean="0">
                            <a:solidFill>
                              <a:srgbClr val="7030A0"/>
                            </a:solidFill>
                            <a:latin typeface="Cambria Math" panose="02040503050406030204" pitchFamily="18" charset="0"/>
                          </a:rPr>
                        </m:ctrlPr>
                      </m:fPr>
                      <m:num>
                        <m:r>
                          <a:rPr lang="en-US" sz="2000" b="0" i="1" smtClean="0">
                            <a:solidFill>
                              <a:srgbClr val="7030A0"/>
                            </a:solidFill>
                            <a:latin typeface="Cambria Math" panose="02040503050406030204" pitchFamily="18" charset="0"/>
                          </a:rPr>
                          <m:t>1000−(200+100+50)</m:t>
                        </m:r>
                      </m:num>
                      <m:den>
                        <m:r>
                          <a:rPr lang="en-US" sz="2000" b="0" i="1" smtClean="0">
                            <a:solidFill>
                              <a:srgbClr val="7030A0"/>
                            </a:solidFill>
                            <a:latin typeface="Cambria Math" panose="02040503050406030204" pitchFamily="18" charset="0"/>
                          </a:rPr>
                          <m:t>300+300</m:t>
                        </m:r>
                      </m:den>
                    </m:f>
                    <m:r>
                      <a:rPr lang="en-US" sz="2000" b="0" i="1" smtClean="0">
                        <a:solidFill>
                          <a:srgbClr val="7030A0"/>
                        </a:solidFill>
                        <a:latin typeface="Cambria Math" panose="02040503050406030204" pitchFamily="18" charset="0"/>
                      </a:rPr>
                      <m:t>=</m:t>
                    </m:r>
                    <m:r>
                      <a:rPr lang="en-US" sz="2000" b="0" i="1" smtClean="0">
                        <a:solidFill>
                          <a:srgbClr val="7030A0"/>
                        </a:solidFill>
                        <a:latin typeface="Cambria Math" panose="02040503050406030204" pitchFamily="18" charset="0"/>
                      </a:rPr>
                      <m:t>1.083</m:t>
                    </m:r>
                  </m:oMath>
                </a14:m>
                <a:r>
                  <a:rPr lang="en-US" sz="2000" b="0" dirty="0">
                    <a:solidFill>
                      <a:srgbClr val="7030A0"/>
                    </a:solidFill>
                  </a:rPr>
                  <a:t> </a:t>
                </a:r>
              </a:p>
              <a:p>
                <a:pPr>
                  <a:lnSpc>
                    <a:spcPct val="150000"/>
                  </a:lnSpc>
                </a:pPr>
                <a:r>
                  <a:rPr lang="en-US" sz="2000" b="0" dirty="0"/>
                  <a:t>(Assuming material and other services are bought, and machines are on leas.)</a:t>
                </a:r>
              </a:p>
              <a:p>
                <a:pPr>
                  <a:lnSpc>
                    <a:spcPct val="150000"/>
                  </a:lnSpc>
                </a:pPr>
                <a:r>
                  <a:rPr lang="en-US" sz="2000" dirty="0">
                    <a:solidFill>
                      <a:srgbClr val="00B0F0"/>
                    </a:solidFill>
                  </a:rPr>
                  <a:t>Total Productivity</a:t>
                </a:r>
                <a:r>
                  <a:rPr lang="en-US" sz="2000" b="0" dirty="0">
                    <a:solidFill>
                      <a:srgbClr val="00B0F0"/>
                    </a:solidFill>
                  </a:rPr>
                  <a:t> </a:t>
                </a:r>
                <a:r>
                  <a:rPr lang="en-US" sz="2000" dirty="0">
                    <a:solidFill>
                      <a:srgbClr val="00B0F0"/>
                    </a:solidFill>
                  </a:rPr>
                  <a:t>= </a:t>
                </a:r>
                <a14:m>
                  <m:oMath xmlns:m="http://schemas.openxmlformats.org/officeDocument/2006/math">
                    <m:f>
                      <m:fPr>
                        <m:ctrlPr>
                          <a:rPr lang="en-US" sz="2000" i="1" smtClean="0">
                            <a:solidFill>
                              <a:srgbClr val="00B0F0"/>
                            </a:solidFill>
                            <a:latin typeface="Cambria Math" panose="02040503050406030204" pitchFamily="18" charset="0"/>
                          </a:rPr>
                        </m:ctrlPr>
                      </m:fPr>
                      <m:num>
                        <m:r>
                          <a:rPr lang="en-US" sz="2000" b="0" i="1" smtClean="0">
                            <a:solidFill>
                              <a:srgbClr val="00B0F0"/>
                            </a:solidFill>
                            <a:latin typeface="Cambria Math" panose="02040503050406030204" pitchFamily="18" charset="0"/>
                          </a:rPr>
                          <m:t>1000−(300+200+300+100+50)</m:t>
                        </m:r>
                      </m:num>
                      <m:den>
                        <m:r>
                          <a:rPr lang="en-US" sz="2000" b="0" i="1" smtClean="0">
                            <a:solidFill>
                              <a:srgbClr val="00B0F0"/>
                            </a:solidFill>
                            <a:latin typeface="Cambria Math" panose="02040503050406030204" pitchFamily="18" charset="0"/>
                          </a:rPr>
                          <m:t>300+300</m:t>
                        </m:r>
                      </m:den>
                    </m:f>
                    <m:r>
                      <a:rPr lang="en-US" sz="2000" b="0" i="1" smtClean="0">
                        <a:solidFill>
                          <a:srgbClr val="00B0F0"/>
                        </a:solidFill>
                        <a:latin typeface="Cambria Math" panose="02040503050406030204" pitchFamily="18" charset="0"/>
                      </a:rPr>
                      <m:t>=1.053</m:t>
                    </m:r>
                  </m:oMath>
                </a14:m>
                <a:endParaRPr lang="en-IN" sz="2000" dirty="0">
                  <a:solidFill>
                    <a:srgbClr val="00B0F0"/>
                  </a:solidFill>
                </a:endParaRPr>
              </a:p>
              <a:p>
                <a:pPr>
                  <a:lnSpc>
                    <a:spcPct val="150000"/>
                  </a:lnSpc>
                </a:pPr>
                <a:endParaRPr lang="en-IN" sz="2000" dirty="0"/>
              </a:p>
              <a:p>
                <a:pPr>
                  <a:lnSpc>
                    <a:spcPct val="150000"/>
                  </a:lnSpc>
                </a:pPr>
                <a:endParaRPr lang="en-IN" sz="2000" dirty="0"/>
              </a:p>
            </p:txBody>
          </p:sp>
        </mc:Choice>
        <mc:Fallback>
          <p:sp>
            <p:nvSpPr>
              <p:cNvPr id="2" name="TextBox 1">
                <a:extLst>
                  <a:ext uri="{FF2B5EF4-FFF2-40B4-BE49-F238E27FC236}">
                    <a16:creationId xmlns:a16="http://schemas.microsoft.com/office/drawing/2014/main" id="{4C2F319F-0C99-48AE-B233-BCC69C3D0B8B}"/>
                  </a:ext>
                </a:extLst>
              </p:cNvPr>
              <p:cNvSpPr txBox="1">
                <a:spLocks noRot="1" noChangeAspect="1" noMove="1" noResize="1" noEditPoints="1" noAdjustHandles="1" noChangeArrowheads="1" noChangeShapeType="1" noTextEdit="1"/>
              </p:cNvSpPr>
              <p:nvPr/>
            </p:nvSpPr>
            <p:spPr>
              <a:xfrm>
                <a:off x="424070" y="397564"/>
                <a:ext cx="11340666" cy="6288453"/>
              </a:xfrm>
              <a:prstGeom prst="rect">
                <a:avLst/>
              </a:prstGeom>
              <a:blipFill>
                <a:blip r:embed="rId2"/>
                <a:stretch>
                  <a:fillRect l="-591" t="-484"/>
                </a:stretch>
              </a:blipFill>
            </p:spPr>
            <p:txBody>
              <a:bodyPr/>
              <a:lstStyle/>
              <a:p>
                <a:r>
                  <a:rPr lang="en-IN">
                    <a:noFill/>
                  </a:rPr>
                  <a:t> </a:t>
                </a:r>
              </a:p>
            </p:txBody>
          </p:sp>
        </mc:Fallback>
      </mc:AlternateContent>
    </p:spTree>
    <p:extLst>
      <p:ext uri="{BB962C8B-B14F-4D97-AF65-F5344CB8AC3E}">
        <p14:creationId xmlns:p14="http://schemas.microsoft.com/office/powerpoint/2010/main" val="366935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AA3A0A-9DC6-498C-9E52-EE119267C58A}"/>
              </a:ext>
            </a:extLst>
          </p:cNvPr>
          <p:cNvSpPr txBox="1"/>
          <p:nvPr/>
        </p:nvSpPr>
        <p:spPr>
          <a:xfrm>
            <a:off x="563216" y="3"/>
            <a:ext cx="11152533" cy="6129050"/>
          </a:xfrm>
          <a:prstGeom prst="rect">
            <a:avLst/>
          </a:prstGeom>
          <a:noFill/>
        </p:spPr>
        <p:txBody>
          <a:bodyPr wrap="square" rtlCol="0">
            <a:spAutoFit/>
          </a:bodyPr>
          <a:lstStyle/>
          <a:p>
            <a:pPr>
              <a:lnSpc>
                <a:spcPct val="150000"/>
              </a:lnSpc>
            </a:pPr>
            <a:r>
              <a:rPr lang="en-US" sz="2400" b="1" dirty="0"/>
              <a:t>Example</a:t>
            </a:r>
          </a:p>
          <a:p>
            <a:pPr>
              <a:lnSpc>
                <a:spcPct val="150000"/>
              </a:lnSpc>
            </a:pPr>
            <a:r>
              <a:rPr lang="en-US" sz="2400" dirty="0">
                <a:solidFill>
                  <a:srgbClr val="C00000"/>
                </a:solidFill>
              </a:rPr>
              <a:t>A machine produces 100 parts per hour with one operator.  Suppose this machine is replaced by another machine with which the operator is able to produce 120 parts.</a:t>
            </a:r>
          </a:p>
          <a:p>
            <a:pPr>
              <a:lnSpc>
                <a:spcPct val="150000"/>
              </a:lnSpc>
            </a:pPr>
            <a:r>
              <a:rPr lang="en-US" sz="2400" dirty="0">
                <a:solidFill>
                  <a:srgbClr val="C00000"/>
                </a:solidFill>
              </a:rPr>
              <a:t>Past and new </a:t>
            </a:r>
            <a:r>
              <a:rPr lang="en-US" sz="2400" dirty="0" err="1">
                <a:solidFill>
                  <a:srgbClr val="C00000"/>
                </a:solidFill>
              </a:rPr>
              <a:t>labour</a:t>
            </a:r>
            <a:r>
              <a:rPr lang="en-US" sz="2400" dirty="0">
                <a:solidFill>
                  <a:srgbClr val="C00000"/>
                </a:solidFill>
              </a:rPr>
              <a:t> productivity = 100 and 120 parts/person-hour (a rise of 20 %).</a:t>
            </a:r>
            <a:endParaRPr lang="en-US" sz="2400" dirty="0"/>
          </a:p>
          <a:p>
            <a:pPr>
              <a:lnSpc>
                <a:spcPct val="150000"/>
              </a:lnSpc>
            </a:pPr>
            <a:r>
              <a:rPr lang="en-US" sz="2400" dirty="0">
                <a:solidFill>
                  <a:srgbClr val="FF0000"/>
                </a:solidFill>
              </a:rPr>
              <a:t>Suppose operating costs of old and new machines are Rs. 40 and Rs. 60 per person-hour,</a:t>
            </a:r>
          </a:p>
          <a:p>
            <a:pPr>
              <a:lnSpc>
                <a:spcPct val="150000"/>
              </a:lnSpc>
            </a:pPr>
            <a:r>
              <a:rPr lang="en-US" sz="2400" dirty="0">
                <a:solidFill>
                  <a:srgbClr val="FF0000"/>
                </a:solidFill>
              </a:rPr>
              <a:t>and wage rate is Rs.5/person-hour.</a:t>
            </a:r>
          </a:p>
          <a:p>
            <a:pPr>
              <a:lnSpc>
                <a:spcPct val="150000"/>
              </a:lnSpc>
            </a:pPr>
            <a:endParaRPr lang="en-US" sz="2400" dirty="0">
              <a:solidFill>
                <a:srgbClr val="FF0000"/>
              </a:solidFill>
            </a:endParaRPr>
          </a:p>
          <a:p>
            <a:pPr>
              <a:lnSpc>
                <a:spcPct val="150000"/>
              </a:lnSpc>
            </a:pPr>
            <a:r>
              <a:rPr lang="en-US" sz="2400" dirty="0"/>
              <a:t>			 Old		    New				Productivity Index</a:t>
            </a:r>
          </a:p>
          <a:p>
            <a:pPr>
              <a:lnSpc>
                <a:spcPct val="150000"/>
              </a:lnSpc>
            </a:pPr>
            <a:r>
              <a:rPr lang="en-US" sz="2400" dirty="0"/>
              <a:t>Labour productivity:	100/5 = 20	    120/5 = 24 parts/rupee	24/20 = 1.2</a:t>
            </a:r>
          </a:p>
          <a:p>
            <a:pPr>
              <a:lnSpc>
                <a:spcPct val="150000"/>
              </a:lnSpc>
            </a:pPr>
            <a:r>
              <a:rPr lang="en-US" sz="2400" dirty="0"/>
              <a:t>Machine productivity:	100/40 =2.5 	    120/60 = 2 parts/rupee	2/2.5  = 0.8</a:t>
            </a:r>
          </a:p>
          <a:p>
            <a:pPr>
              <a:lnSpc>
                <a:spcPct val="150000"/>
              </a:lnSpc>
            </a:pPr>
            <a:r>
              <a:rPr lang="en-US" sz="2400" dirty="0"/>
              <a:t>Combined L &amp; M Prod: 100/(45) = 2.22 120/(65) = 1.85		1.85/2.22 = 0.83</a:t>
            </a:r>
          </a:p>
        </p:txBody>
      </p:sp>
    </p:spTree>
    <p:extLst>
      <p:ext uri="{BB962C8B-B14F-4D97-AF65-F5344CB8AC3E}">
        <p14:creationId xmlns:p14="http://schemas.microsoft.com/office/powerpoint/2010/main" val="179628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D23A-CEEE-4F5A-A20F-F6CE39D90A91}"/>
              </a:ext>
            </a:extLst>
          </p:cNvPr>
          <p:cNvSpPr>
            <a:spLocks noGrp="1"/>
          </p:cNvSpPr>
          <p:nvPr>
            <p:ph type="title"/>
          </p:nvPr>
        </p:nvSpPr>
        <p:spPr>
          <a:xfrm>
            <a:off x="764722" y="210003"/>
            <a:ext cx="10515600" cy="720725"/>
          </a:xfrm>
          <a:solidFill>
            <a:schemeClr val="accent6">
              <a:lumMod val="60000"/>
              <a:lumOff val="40000"/>
            </a:schemeClr>
          </a:solidFill>
        </p:spPr>
        <p:txBody>
          <a:bodyPr/>
          <a:lstStyle/>
          <a:p>
            <a:r>
              <a:rPr lang="en-US" dirty="0"/>
              <a:t>Productivity of a Multi-Product Company</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E0824E-5269-4894-94D9-1DD04D463F71}"/>
                  </a:ext>
                </a:extLst>
              </p:cNvPr>
              <p:cNvSpPr>
                <a:spLocks noGrp="1"/>
              </p:cNvSpPr>
              <p:nvPr>
                <p:ph idx="1"/>
              </p:nvPr>
            </p:nvSpPr>
            <p:spPr/>
            <p:txBody>
              <a:bodyPr/>
              <a:lstStyle/>
              <a:p>
                <a:pPr marL="0" indent="0">
                  <a:buNone/>
                </a:pPr>
                <a:r>
                  <a:rPr lang="en-US" dirty="0"/>
                  <a:t>Suppose a company produces </a:t>
                </a:r>
                <a:r>
                  <a:rPr lang="en-US" i="1" dirty="0"/>
                  <a:t>n</a:t>
                </a:r>
                <a:r>
                  <a:rPr lang="en-US" dirty="0"/>
                  <a:t> products.  Suppose we know the output,  </a:t>
                </a:r>
                <a:r>
                  <a:rPr lang="en-US" dirty="0" err="1"/>
                  <a:t>labour</a:t>
                </a:r>
                <a:r>
                  <a:rPr lang="en-US" dirty="0"/>
                  <a:t>, material, energy, capital, and other expenses for each product </a:t>
                </a:r>
                <a:r>
                  <a:rPr lang="en-US" i="1" dirty="0" err="1"/>
                  <a:t>i</a:t>
                </a:r>
                <a:r>
                  <a:rPr lang="en-US" i="1" dirty="0"/>
                  <a:t> </a:t>
                </a:r>
                <a:r>
                  <a:rPr lang="en-US" dirty="0"/>
                  <a:t>= 1, . . ., </a:t>
                </a:r>
                <a:r>
                  <a:rPr lang="en-US" i="1" dirty="0"/>
                  <a:t>n.</a:t>
                </a:r>
              </a:p>
              <a:p>
                <a:pPr marL="0" indent="0">
                  <a:buNone/>
                </a:pPr>
                <a:endParaRPr lang="en-US" i="1" dirty="0"/>
              </a:p>
              <a:p>
                <a:pPr marL="0" indent="0">
                  <a:buNone/>
                </a:pPr>
                <a:r>
                  <a:rPr lang="en-US" dirty="0"/>
                  <a:t>Then one can compute </a:t>
                </a:r>
              </a:p>
              <a:p>
                <a:pPr marL="0" indent="0">
                  <a:buNone/>
                </a:pPr>
                <a:endParaRPr lang="en-US" dirty="0"/>
              </a:p>
              <a:p>
                <a:pPr lvl="1"/>
                <a:r>
                  <a:rPr lang="en-US" sz="2600" dirty="0"/>
                  <a:t>Productivities at each product level and</a:t>
                </a:r>
              </a:p>
              <a:p>
                <a:pPr lvl="1"/>
                <a:endParaRPr lang="en-US" sz="2600" dirty="0"/>
              </a:p>
              <a:p>
                <a:pPr lvl="1"/>
                <a:r>
                  <a:rPr lang="en-US" sz="2600" dirty="0"/>
                  <a:t>Total productivity at the company level = </a:t>
                </a:r>
                <a14:m>
                  <m:oMath xmlns:m="http://schemas.openxmlformats.org/officeDocument/2006/math">
                    <m:f>
                      <m:fPr>
                        <m:ctrlPr>
                          <a:rPr lang="en-US" sz="2600" i="1" smtClean="0">
                            <a:latin typeface="Cambria Math" panose="02040503050406030204" pitchFamily="18" charset="0"/>
                          </a:rPr>
                        </m:ctrlPr>
                      </m:fPr>
                      <m:num>
                        <m:r>
                          <a:rPr lang="en-US" sz="2600" b="0" i="1" smtClean="0">
                            <a:latin typeface="Cambria Math" panose="02040503050406030204" pitchFamily="18" charset="0"/>
                          </a:rPr>
                          <m:t>𝑆𝑢𝑚</m:t>
                        </m:r>
                        <m:r>
                          <a:rPr lang="en-US" sz="2600" b="0" i="1" smtClean="0">
                            <a:latin typeface="Cambria Math" panose="02040503050406030204" pitchFamily="18" charset="0"/>
                          </a:rPr>
                          <m:t> </m:t>
                        </m:r>
                        <m:r>
                          <a:rPr lang="en-US" sz="2600" b="0" i="1" smtClean="0">
                            <a:latin typeface="Cambria Math" panose="02040503050406030204" pitchFamily="18" charset="0"/>
                          </a:rPr>
                          <m:t>𝑜𝑓</m:t>
                        </m:r>
                        <m:r>
                          <a:rPr lang="en-US" sz="2600" b="0" i="1" smtClean="0">
                            <a:latin typeface="Cambria Math" panose="02040503050406030204" pitchFamily="18" charset="0"/>
                          </a:rPr>
                          <m:t> </m:t>
                        </m:r>
                        <m:r>
                          <a:rPr lang="en-US" sz="2600" b="0" i="1" smtClean="0">
                            <a:latin typeface="Cambria Math" panose="02040503050406030204" pitchFamily="18" charset="0"/>
                          </a:rPr>
                          <m:t>𝑎𝑙𝑙</m:t>
                        </m:r>
                        <m:r>
                          <a:rPr lang="en-US" sz="2600" b="0" i="1" smtClean="0">
                            <a:latin typeface="Cambria Math" panose="02040503050406030204" pitchFamily="18" charset="0"/>
                          </a:rPr>
                          <m:t> </m:t>
                        </m:r>
                        <m:r>
                          <a:rPr lang="en-US" sz="2600" b="0" i="1" smtClean="0">
                            <a:latin typeface="Cambria Math" panose="02040503050406030204" pitchFamily="18" charset="0"/>
                          </a:rPr>
                          <m:t>𝑜𝑢𝑡𝑝𝑢𝑡𝑠</m:t>
                        </m:r>
                      </m:num>
                      <m:den>
                        <m:r>
                          <a:rPr lang="en-US" sz="2600" b="0" i="1" smtClean="0">
                            <a:latin typeface="Cambria Math" panose="02040503050406030204" pitchFamily="18" charset="0"/>
                          </a:rPr>
                          <m:t>𝑆𝑢𝑚</m:t>
                        </m:r>
                        <m:r>
                          <a:rPr lang="en-US" sz="2600" b="0" i="1" smtClean="0">
                            <a:latin typeface="Cambria Math" panose="02040503050406030204" pitchFamily="18" charset="0"/>
                          </a:rPr>
                          <m:t> </m:t>
                        </m:r>
                        <m:r>
                          <a:rPr lang="en-US" sz="2600" b="0" i="1" smtClean="0">
                            <a:latin typeface="Cambria Math" panose="02040503050406030204" pitchFamily="18" charset="0"/>
                          </a:rPr>
                          <m:t>𝑜𝑓</m:t>
                        </m:r>
                        <m:r>
                          <a:rPr lang="en-US" sz="2600" b="0" i="1" smtClean="0">
                            <a:latin typeface="Cambria Math" panose="02040503050406030204" pitchFamily="18" charset="0"/>
                          </a:rPr>
                          <m:t> </m:t>
                        </m:r>
                        <m:r>
                          <a:rPr lang="en-US" sz="2600" b="0" i="1" smtClean="0">
                            <a:latin typeface="Cambria Math" panose="02040503050406030204" pitchFamily="18" charset="0"/>
                          </a:rPr>
                          <m:t>𝑎𝑙𝑙</m:t>
                        </m:r>
                        <m:r>
                          <a:rPr lang="en-US" sz="2600" b="0" i="1" smtClean="0">
                            <a:latin typeface="Cambria Math" panose="02040503050406030204" pitchFamily="18" charset="0"/>
                          </a:rPr>
                          <m:t> </m:t>
                        </m:r>
                        <m:r>
                          <a:rPr lang="en-US" sz="2600" b="0" i="1" smtClean="0">
                            <a:latin typeface="Cambria Math" panose="02040503050406030204" pitchFamily="18" charset="0"/>
                          </a:rPr>
                          <m:t>𝑖𝑛𝑝𝑢𝑡𝑠</m:t>
                        </m:r>
                      </m:den>
                    </m:f>
                  </m:oMath>
                </a14:m>
                <a:endParaRPr lang="en-IN" sz="2600" dirty="0"/>
              </a:p>
            </p:txBody>
          </p:sp>
        </mc:Choice>
        <mc:Fallback xmlns="">
          <p:sp>
            <p:nvSpPr>
              <p:cNvPr id="3" name="Content Placeholder 2">
                <a:extLst>
                  <a:ext uri="{FF2B5EF4-FFF2-40B4-BE49-F238E27FC236}">
                    <a16:creationId xmlns:a16="http://schemas.microsoft.com/office/drawing/2014/main" id="{BBE0824E-5269-4894-94D9-1DD04D463F7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447968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61FF-59FA-49A7-9F93-10BEA2272E4C}"/>
              </a:ext>
            </a:extLst>
          </p:cNvPr>
          <p:cNvSpPr>
            <a:spLocks noGrp="1"/>
          </p:cNvSpPr>
          <p:nvPr>
            <p:ph type="title"/>
          </p:nvPr>
        </p:nvSpPr>
        <p:spPr>
          <a:xfrm>
            <a:off x="838199" y="243114"/>
            <a:ext cx="4680857" cy="875846"/>
          </a:xfrm>
          <a:solidFill>
            <a:schemeClr val="accent6">
              <a:lumMod val="60000"/>
              <a:lumOff val="40000"/>
            </a:schemeClr>
          </a:solidFill>
        </p:spPr>
        <p:txBody>
          <a:bodyPr/>
          <a:lstStyle/>
          <a:p>
            <a:r>
              <a:rPr lang="en-US" dirty="0"/>
              <a:t>Service Productivity</a:t>
            </a:r>
            <a:endParaRPr lang="en-IN" dirty="0"/>
          </a:p>
        </p:txBody>
      </p:sp>
      <p:sp>
        <p:nvSpPr>
          <p:cNvPr id="3" name="Content Placeholder 2">
            <a:extLst>
              <a:ext uri="{FF2B5EF4-FFF2-40B4-BE49-F238E27FC236}">
                <a16:creationId xmlns:a16="http://schemas.microsoft.com/office/drawing/2014/main" id="{469AB16D-FA06-4825-8020-79968868E708}"/>
              </a:ext>
            </a:extLst>
          </p:cNvPr>
          <p:cNvSpPr>
            <a:spLocks noGrp="1"/>
          </p:cNvSpPr>
          <p:nvPr>
            <p:ph idx="1"/>
          </p:nvPr>
        </p:nvSpPr>
        <p:spPr>
          <a:xfrm>
            <a:off x="838199" y="1825625"/>
            <a:ext cx="10810461" cy="4351338"/>
          </a:xfrm>
        </p:spPr>
        <p:txBody>
          <a:bodyPr>
            <a:normAutofit/>
          </a:bodyPr>
          <a:lstStyle/>
          <a:p>
            <a:r>
              <a:rPr lang="en-US" dirty="0"/>
              <a:t>It is seldom possible to define “one unit of a service.” </a:t>
            </a:r>
          </a:p>
          <a:p>
            <a:r>
              <a:rPr lang="en-US" dirty="0"/>
              <a:t>Productivity measurements in services are normally only partial measurements:</a:t>
            </a:r>
          </a:p>
          <a:p>
            <a:pPr marL="0" indent="0">
              <a:buNone/>
            </a:pPr>
            <a:r>
              <a:rPr lang="en-US" dirty="0"/>
              <a:t>	- How many customers are served by a restaurant waiter in a day</a:t>
            </a:r>
          </a:p>
          <a:p>
            <a:pPr marL="0" indent="0">
              <a:buNone/>
            </a:pPr>
            <a:r>
              <a:rPr lang="en-US" dirty="0"/>
              <a:t>	- How many phone calls are dispatched by a call center employee.</a:t>
            </a:r>
          </a:p>
          <a:p>
            <a:r>
              <a:rPr lang="en-US" dirty="0"/>
              <a:t>Reducing input improves input efficiency, but can reduce quality, hence output, and hence productivity.</a:t>
            </a:r>
          </a:p>
          <a:p>
            <a:r>
              <a:rPr lang="en-US" dirty="0"/>
              <a:t> Banks offer ATM services and insurance companies offer call </a:t>
            </a:r>
            <a:r>
              <a:rPr lang="en-US" dirty="0" err="1"/>
              <a:t>centre</a:t>
            </a:r>
            <a:r>
              <a:rPr lang="en-US" dirty="0"/>
              <a:t> services.  QoS has not deteriorated.  Hence these are effective schemes.</a:t>
            </a:r>
            <a:endParaRPr lang="en-IN" dirty="0"/>
          </a:p>
        </p:txBody>
      </p:sp>
    </p:spTree>
    <p:extLst>
      <p:ext uri="{BB962C8B-B14F-4D97-AF65-F5344CB8AC3E}">
        <p14:creationId xmlns:p14="http://schemas.microsoft.com/office/powerpoint/2010/main" val="2275354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0E8478E-3289-4232-B2D7-0ED6F72E98AF}"/>
                  </a:ext>
                </a:extLst>
              </p:cNvPr>
              <p:cNvSpPr txBox="1"/>
              <p:nvPr/>
            </p:nvSpPr>
            <p:spPr>
              <a:xfrm>
                <a:off x="543339" y="530087"/>
                <a:ext cx="10986052" cy="4834400"/>
              </a:xfrm>
              <a:prstGeom prst="rect">
                <a:avLst/>
              </a:prstGeom>
              <a:noFill/>
            </p:spPr>
            <p:txBody>
              <a:bodyPr wrap="square" rtlCol="0">
                <a:spAutoFit/>
              </a:bodyPr>
              <a:lstStyle/>
              <a:p>
                <a:endParaRPr lang="en-US" sz="2800" dirty="0"/>
              </a:p>
              <a:p>
                <a:r>
                  <a:rPr lang="en-US" sz="2800" dirty="0"/>
                  <a:t>Service productivity Measures</a:t>
                </a:r>
              </a:p>
              <a:p>
                <a:endParaRPr lang="en-US" sz="2800" dirty="0"/>
              </a:p>
              <a:p>
                <a:r>
                  <a:rPr lang="en-US" sz="2800" dirty="0"/>
                  <a:t>	Service Productivity</a:t>
                </a:r>
                <a14:m>
                  <m:oMath xmlns:m="http://schemas.openxmlformats.org/officeDocument/2006/math">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𝑅𝑒𝑣𝑒𝑛𝑢𝑒</m:t>
                        </m:r>
                        <m:r>
                          <a:rPr lang="en-US" sz="2800" b="0" i="1" smtClean="0">
                            <a:latin typeface="Cambria Math" panose="02040503050406030204" pitchFamily="18" charset="0"/>
                          </a:rPr>
                          <m:t> </m:t>
                        </m:r>
                        <m:r>
                          <a:rPr lang="en-US" sz="2800" b="0" i="1" smtClean="0">
                            <a:latin typeface="Cambria Math" panose="02040503050406030204" pitchFamily="18" charset="0"/>
                          </a:rPr>
                          <m:t>𝑓𝑟𝑜𝑚</m:t>
                        </m:r>
                        <m:r>
                          <a:rPr lang="en-US" sz="2800" b="0" i="1" smtClean="0">
                            <a:latin typeface="Cambria Math" panose="02040503050406030204" pitchFamily="18" charset="0"/>
                          </a:rPr>
                          <m:t> </m:t>
                        </m:r>
                        <m:r>
                          <a:rPr lang="en-US" sz="2800" b="0" i="1" smtClean="0">
                            <a:latin typeface="Cambria Math" panose="02040503050406030204" pitchFamily="18" charset="0"/>
                          </a:rPr>
                          <m:t>𝑎</m:t>
                        </m:r>
                        <m:r>
                          <a:rPr lang="en-US" sz="2800" b="0" i="1" smtClean="0">
                            <a:latin typeface="Cambria Math" panose="02040503050406030204" pitchFamily="18" charset="0"/>
                          </a:rPr>
                          <m:t> </m:t>
                        </m:r>
                        <m:r>
                          <a:rPr lang="en-US" sz="2800" b="0" i="1" smtClean="0">
                            <a:latin typeface="Cambria Math" panose="02040503050406030204" pitchFamily="18" charset="0"/>
                          </a:rPr>
                          <m:t>𝑠𝑒𝑟𝑣𝑒</m:t>
                        </m:r>
                      </m:num>
                      <m:den>
                        <m:r>
                          <a:rPr lang="en-US" sz="2800" b="0" i="1" smtClean="0">
                            <a:latin typeface="Cambria Math" panose="02040503050406030204" pitchFamily="18" charset="0"/>
                          </a:rPr>
                          <m:t>𝐶𝑜𝑠𝑡</m:t>
                        </m:r>
                        <m:r>
                          <a:rPr lang="en-US" sz="2800" b="0" i="1" smtClean="0">
                            <a:latin typeface="Cambria Math" panose="02040503050406030204" pitchFamily="18" charset="0"/>
                          </a:rPr>
                          <m:t> </m:t>
                        </m:r>
                        <m:r>
                          <a:rPr lang="en-US" sz="2800" b="0" i="1" smtClean="0">
                            <a:latin typeface="Cambria Math" panose="02040503050406030204" pitchFamily="18" charset="0"/>
                          </a:rPr>
                          <m:t>𝑜𝑓</m:t>
                        </m:r>
                        <m:r>
                          <a:rPr lang="en-US" sz="2800" b="0" i="1" smtClean="0">
                            <a:latin typeface="Cambria Math" panose="02040503050406030204" pitchFamily="18" charset="0"/>
                          </a:rPr>
                          <m:t> </m:t>
                        </m:r>
                        <m:r>
                          <a:rPr lang="en-US" sz="2800" b="0" i="1" smtClean="0">
                            <a:latin typeface="Cambria Math" panose="02040503050406030204" pitchFamily="18" charset="0"/>
                          </a:rPr>
                          <m:t>𝑝𝑟𝑜𝑑𝑢𝑐𝑖𝑛𝑔</m:t>
                        </m:r>
                        <m:r>
                          <a:rPr lang="en-US" sz="2800" b="0" i="1" smtClean="0">
                            <a:latin typeface="Cambria Math" panose="02040503050406030204" pitchFamily="18" charset="0"/>
                          </a:rPr>
                          <m:t> </m:t>
                        </m:r>
                        <m:r>
                          <a:rPr lang="en-US" sz="2800" b="0" i="1" smtClean="0">
                            <a:latin typeface="Cambria Math" panose="02040503050406030204" pitchFamily="18" charset="0"/>
                          </a:rPr>
                          <m:t>𝑡h𝑒</m:t>
                        </m:r>
                        <m:r>
                          <a:rPr lang="en-US" sz="2800" b="0" i="1" smtClean="0">
                            <a:latin typeface="Cambria Math" panose="02040503050406030204" pitchFamily="18" charset="0"/>
                          </a:rPr>
                          <m:t> </m:t>
                        </m:r>
                        <m:r>
                          <a:rPr lang="en-US" sz="2800" b="0" i="1" smtClean="0">
                            <a:latin typeface="Cambria Math" panose="02040503050406030204" pitchFamily="18" charset="0"/>
                          </a:rPr>
                          <m:t>𝑠𝑒𝑟𝑣𝑖𝑐𝑒</m:t>
                        </m:r>
                      </m:den>
                    </m:f>
                  </m:oMath>
                </a14:m>
                <a:endParaRPr lang="en-US" sz="2800" dirty="0"/>
              </a:p>
              <a:p>
                <a:endParaRPr lang="en-US" sz="2800" dirty="0"/>
              </a:p>
              <a:p>
                <a:r>
                  <a:rPr lang="en-US" sz="2800" dirty="0"/>
                  <a:t>For global productivity of operations of a service provider</a:t>
                </a:r>
              </a:p>
              <a:p>
                <a:endParaRPr lang="en-US" sz="2800" dirty="0"/>
              </a:p>
              <a:p>
                <a:r>
                  <a:rPr lang="en-US" sz="2800" dirty="0"/>
                  <a:t>	 Service Productivity</a:t>
                </a:r>
                <a14:m>
                  <m:oMath xmlns:m="http://schemas.openxmlformats.org/officeDocument/2006/math">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𝑟𝑒𝑣𝑒𝑛𝑢𝑒</m:t>
                        </m:r>
                        <m:r>
                          <a:rPr lang="en-US" sz="2800" i="1">
                            <a:latin typeface="Cambria Math" panose="02040503050406030204" pitchFamily="18" charset="0"/>
                          </a:rPr>
                          <m:t> </m:t>
                        </m:r>
                      </m:num>
                      <m:den>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i="1">
                            <a:latin typeface="Cambria Math" panose="02040503050406030204" pitchFamily="18" charset="0"/>
                          </a:rPr>
                          <m:t>𝐶𝑜𝑠𝑡</m:t>
                        </m:r>
                        <m:r>
                          <a:rPr lang="en-US" sz="2800" i="1">
                            <a:latin typeface="Cambria Math" panose="02040503050406030204" pitchFamily="18" charset="0"/>
                          </a:rPr>
                          <m:t> </m:t>
                        </m:r>
                      </m:den>
                    </m:f>
                  </m:oMath>
                </a14:m>
                <a:endParaRPr lang="en-US" sz="2800" dirty="0"/>
              </a:p>
              <a:p>
                <a:endParaRPr lang="en-US" sz="2800" dirty="0"/>
              </a:p>
              <a:p>
                <a:endParaRPr lang="en-IN" sz="2800" dirty="0"/>
              </a:p>
            </p:txBody>
          </p:sp>
        </mc:Choice>
        <mc:Fallback xmlns="">
          <p:sp>
            <p:nvSpPr>
              <p:cNvPr id="2" name="TextBox 1">
                <a:extLst>
                  <a:ext uri="{FF2B5EF4-FFF2-40B4-BE49-F238E27FC236}">
                    <a16:creationId xmlns:a16="http://schemas.microsoft.com/office/drawing/2014/main" id="{10E8478E-3289-4232-B2D7-0ED6F72E98AF}"/>
                  </a:ext>
                </a:extLst>
              </p:cNvPr>
              <p:cNvSpPr txBox="1">
                <a:spLocks noRot="1" noChangeAspect="1" noMove="1" noResize="1" noEditPoints="1" noAdjustHandles="1" noChangeArrowheads="1" noChangeShapeType="1" noTextEdit="1"/>
              </p:cNvSpPr>
              <p:nvPr/>
            </p:nvSpPr>
            <p:spPr>
              <a:xfrm>
                <a:off x="543339" y="530087"/>
                <a:ext cx="10986052" cy="4834400"/>
              </a:xfrm>
              <a:prstGeom prst="rect">
                <a:avLst/>
              </a:prstGeom>
              <a:blipFill>
                <a:blip r:embed="rId2"/>
                <a:stretch>
                  <a:fillRect l="-1110"/>
                </a:stretch>
              </a:blipFill>
            </p:spPr>
            <p:txBody>
              <a:bodyPr/>
              <a:lstStyle/>
              <a:p>
                <a:r>
                  <a:rPr lang="en-IN">
                    <a:noFill/>
                  </a:rPr>
                  <a:t> </a:t>
                </a:r>
              </a:p>
            </p:txBody>
          </p:sp>
        </mc:Fallback>
      </mc:AlternateContent>
    </p:spTree>
    <p:extLst>
      <p:ext uri="{BB962C8B-B14F-4D97-AF65-F5344CB8AC3E}">
        <p14:creationId xmlns:p14="http://schemas.microsoft.com/office/powerpoint/2010/main" val="3645165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63583E-EB54-2C97-7ED8-AD237A4A2249}"/>
              </a:ext>
            </a:extLst>
          </p:cNvPr>
          <p:cNvSpPr txBox="1"/>
          <p:nvPr/>
        </p:nvSpPr>
        <p:spPr>
          <a:xfrm>
            <a:off x="3845380" y="2735033"/>
            <a:ext cx="4759778" cy="830997"/>
          </a:xfrm>
          <a:prstGeom prst="rect">
            <a:avLst/>
          </a:prstGeom>
          <a:noFill/>
        </p:spPr>
        <p:txBody>
          <a:bodyPr wrap="square" rtlCol="0">
            <a:spAutoFit/>
          </a:bodyPr>
          <a:lstStyle/>
          <a:p>
            <a:r>
              <a:rPr lang="en-US" sz="4800" b="1" dirty="0">
                <a:solidFill>
                  <a:srgbClr val="00B0F0"/>
                </a:solidFill>
              </a:rPr>
              <a:t>THANK YOU!</a:t>
            </a:r>
            <a:endParaRPr lang="en-IN" sz="4800" b="1" dirty="0">
              <a:solidFill>
                <a:srgbClr val="00B0F0"/>
              </a:solidFill>
            </a:endParaRPr>
          </a:p>
        </p:txBody>
      </p:sp>
    </p:spTree>
    <p:extLst>
      <p:ext uri="{BB962C8B-B14F-4D97-AF65-F5344CB8AC3E}">
        <p14:creationId xmlns:p14="http://schemas.microsoft.com/office/powerpoint/2010/main" val="548454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1852</TotalTime>
  <Words>1106</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Production and Productivity</vt:lpstr>
      <vt:lpstr>Production and Productivity</vt:lpstr>
      <vt:lpstr>PowerPoint Presentation</vt:lpstr>
      <vt:lpstr>Efficiency and Effectiveness</vt:lpstr>
      <vt:lpstr>PowerPoint Presentation</vt:lpstr>
      <vt:lpstr>Partial, Total-Factor, and Total Productivity</vt:lpstr>
      <vt:lpstr>Real (Monetary) Values of Goods and Services</vt:lpstr>
      <vt:lpstr>PowerPoint Presentation</vt:lpstr>
      <vt:lpstr>PowerPoint Presentation</vt:lpstr>
      <vt:lpstr>PowerPoint Presentation</vt:lpstr>
      <vt:lpstr>Productivity of a Multi-Product Company</vt:lpstr>
      <vt:lpstr>Service Productivity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Productivity</dc:title>
  <dc:creator>Pratap</dc:creator>
  <cp:lastModifiedBy>Pruthwiraj Sahu</cp:lastModifiedBy>
  <cp:revision>31</cp:revision>
  <dcterms:created xsi:type="dcterms:W3CDTF">2025-07-30T09:59:01Z</dcterms:created>
  <dcterms:modified xsi:type="dcterms:W3CDTF">2025-08-21T05:31:30Z</dcterms:modified>
</cp:coreProperties>
</file>